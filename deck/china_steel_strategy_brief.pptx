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690"/>
  </p:normalViewPr>
  <p:slideViewPr>
    <p:cSldViewPr snapToGrid="0">
      <p:cViewPr varScale="1">
        <p:scale>
          <a:sx n="100" d="100"/>
          <a:sy n="100" d="100"/>
        </p:scale>
        <p:origin x="-29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8534971644612473E-2"/>
          <c:y val="5.8664259927797835E-2"/>
          <c:w val="0.88917769376181477"/>
          <c:h val="0.88267148014440433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chemeClr val="accent2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A524-B042-9831-3C6A7FFD3958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A524-B042-9831-3C6A7FFD3958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A524-B042-9831-3C6A7FFD3958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A524-B042-9831-3C6A7FFD3958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A524-B042-9831-3C6A7FFD3958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A524-B042-9831-3C6A7FFD3958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A524-B042-9831-3C6A7FFD3958}"/>
              </c:ext>
            </c:extLst>
          </c:dPt>
          <c:dPt>
            <c:idx val="7"/>
            <c:marker>
              <c:symbol val="circle"/>
              <c:size val="7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A524-B042-9831-3C6A7FFD3958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558</c:v>
                </c:pt>
                <c:pt idx="1">
                  <c:v>570</c:v>
                </c:pt>
                <c:pt idx="2">
                  <c:v>548</c:v>
                </c:pt>
                <c:pt idx="3">
                  <c:v>536</c:v>
                </c:pt>
                <c:pt idx="4">
                  <c:v>544</c:v>
                </c:pt>
                <c:pt idx="5">
                  <c:v>526</c:v>
                </c:pt>
                <c:pt idx="6">
                  <c:v>522</c:v>
                </c:pt>
                <c:pt idx="7">
                  <c:v>529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524-B042-9831-3C6A7FFD3958}"/>
            </c:ext>
          </c:extLst>
        </c:ser>
        <c:ser>
          <c:idx val="1"/>
          <c:order val="1"/>
          <c:spPr>
            <a:ln w="19050" cmpd="sng" algn="ctr">
              <a:solidFill>
                <a:schemeClr val="accent1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A524-B042-9831-3C6A7FFD3958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A524-B042-9831-3C6A7FFD3958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A524-B042-9831-3C6A7FFD3958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A524-B042-9831-3C6A7FFD3958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A524-B042-9831-3C6A7FFD3958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A524-B042-9831-3C6A7FFD3958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A524-B042-9831-3C6A7FFD3958}"/>
              </c:ext>
            </c:extLst>
          </c:dPt>
          <c:dPt>
            <c:idx val="7"/>
            <c:marker>
              <c:symbol val="circle"/>
              <c:size val="7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A524-B042-9831-3C6A7FFD3958}"/>
              </c:ext>
            </c:extLst>
          </c:dPt>
          <c:val>
            <c:numRef>
              <c:f>Sheet1!$A$2:$H$2</c:f>
              <c:numCache>
                <c:formatCode>General</c:formatCode>
                <c:ptCount val="8"/>
                <c:pt idx="0">
                  <c:v>388</c:v>
                </c:pt>
                <c:pt idx="1">
                  <c:v>397</c:v>
                </c:pt>
                <c:pt idx="2">
                  <c:v>380</c:v>
                </c:pt>
                <c:pt idx="3">
                  <c:v>369</c:v>
                </c:pt>
                <c:pt idx="4">
                  <c:v>376</c:v>
                </c:pt>
                <c:pt idx="5">
                  <c:v>361</c:v>
                </c:pt>
                <c:pt idx="6">
                  <c:v>356</c:v>
                </c:pt>
                <c:pt idx="7">
                  <c:v>368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A524-B042-9831-3C6A7FFD39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99614383"/>
        <c:axId val="1"/>
      </c:lineChart>
      <c:catAx>
        <c:axId val="9996143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0"/>
          <c:min val="250"/>
        </c:scaling>
        <c:delete val="0"/>
        <c:axPos val="l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&quot;$&quot;#,##0;&quot;-&quot;&quot;$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9614383"/>
        <c:crosses val="min"/>
        <c:crossBetween val="midCat"/>
        <c:majorUnit val="5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584704743465635E-2"/>
          <c:y val="0.10033076074972437"/>
          <c:w val="0.97483059051306875"/>
          <c:h val="0.8287394340316059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BF3-E84E-8DA2-2739723CA327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BF3-E84E-8DA2-2739723CA327}"/>
              </c:ext>
            </c:extLst>
          </c:dPt>
          <c:dLbls>
            <c:dLbl>
              <c:idx val="0"/>
              <c:layout>
                <c:manualLayout>
                  <c:x val="0"/>
                  <c:y val="-0.44395442851892686"/>
                </c:manualLayout>
              </c:layout>
              <c:numFmt formatCode="&quot;$&quot;#,##0;&quot;-&quot;&quot;$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BF3-E84E-8DA2-2739723CA327}"/>
                </c:ext>
              </c:extLst>
            </c:dLbl>
            <c:dLbl>
              <c:idx val="5"/>
              <c:layout>
                <c:manualLayout>
                  <c:x val="0"/>
                  <c:y val="-0.1565600882028666"/>
                </c:manualLayout>
              </c:layout>
              <c:numFmt formatCode="&quot;$&quot;#,##0;&quot;-&quot;&quot;$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BF3-E84E-8DA2-2739723CA32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555</c:v>
                </c:pt>
                <c:pt idx="1">
                  <c:v>382</c:v>
                </c:pt>
                <c:pt idx="2">
                  <c:v>264</c:v>
                </c:pt>
                <c:pt idx="3">
                  <c:v>204</c:v>
                </c:pt>
                <c:pt idx="4">
                  <c:v>170</c:v>
                </c:pt>
                <c:pt idx="5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F3-E84E-8DA2-2739723CA327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Sheet1!$A$2:$F$2</c:f>
              <c:numCache>
                <c:formatCode>General</c:formatCode>
                <c:ptCount val="6"/>
                <c:pt idx="1">
                  <c:v>173</c:v>
                </c:pt>
                <c:pt idx="2">
                  <c:v>118</c:v>
                </c:pt>
                <c:pt idx="3">
                  <c:v>60</c:v>
                </c:pt>
                <c:pt idx="4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BF3-E84E-8DA2-2739723CA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50768015"/>
        <c:axId val="1"/>
      </c:barChart>
      <c:catAx>
        <c:axId val="9507680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5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9507680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Demand</c:v>
          </c:tx>
          <c:spPr>
            <a:ln w="28575">
              <a:solidFill>
                <a:srgbClr val="D97706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D97706"/>
              </a:solidFill>
            </c:spPr>
          </c:marker>
          <c:cat>
            <c:numLit>
              <c:formatCode>General</c:formatCode>
              <c:ptCount val="6"/>
              <c:pt idx="0">
                <c:v>2025</c:v>
              </c:pt>
              <c:pt idx="1">
                <c:v>2026</c:v>
              </c:pt>
              <c:pt idx="2">
                <c:v>2027</c:v>
              </c:pt>
              <c:pt idx="3">
                <c:v>2028</c:v>
              </c:pt>
              <c:pt idx="4">
                <c:v>2029</c:v>
              </c:pt>
              <c:pt idx="5">
                <c:v>2030</c:v>
              </c:pt>
            </c:numLit>
          </c:cat>
          <c:val>
            <c:numLit>
              <c:formatCode>General</c:formatCode>
              <c:ptCount val="6"/>
              <c:pt idx="0">
                <c:v>980</c:v>
              </c:pt>
              <c:pt idx="1">
                <c:v>970</c:v>
              </c:pt>
              <c:pt idx="2">
                <c:v>960</c:v>
              </c:pt>
              <c:pt idx="3">
                <c:v>951</c:v>
              </c:pt>
              <c:pt idx="4">
                <c:v>941</c:v>
              </c:pt>
              <c:pt idx="5">
                <c:v>932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431A-C542-B5AA-CE1DB8CD02B5}"/>
            </c:ext>
          </c:extLst>
        </c:ser>
        <c:ser>
          <c:idx val="1"/>
          <c:order val="1"/>
          <c:tx>
            <c:v>Supply</c:v>
          </c:tx>
          <c:spPr>
            <a:ln w="28575">
              <a:solidFill>
                <a:srgbClr val="102A36"/>
              </a:solidFill>
              <a:prstDash val="solid"/>
            </a:ln>
          </c:spPr>
          <c:marker>
            <c:symbol val="square"/>
            <c:size val="6"/>
            <c:spPr>
              <a:solidFill>
                <a:srgbClr val="102A36"/>
              </a:solidFill>
            </c:spPr>
          </c:marker>
          <c:cat>
            <c:numLit>
              <c:formatCode>General</c:formatCode>
              <c:ptCount val="6"/>
              <c:pt idx="0">
                <c:v>2025</c:v>
              </c:pt>
              <c:pt idx="1">
                <c:v>2026</c:v>
              </c:pt>
              <c:pt idx="2">
                <c:v>2027</c:v>
              </c:pt>
              <c:pt idx="3">
                <c:v>2028</c:v>
              </c:pt>
              <c:pt idx="4">
                <c:v>2029</c:v>
              </c:pt>
              <c:pt idx="5">
                <c:v>2030</c:v>
              </c:pt>
            </c:numLit>
          </c:cat>
          <c:val>
            <c:numLit>
              <c:formatCode>General</c:formatCode>
              <c:ptCount val="6"/>
              <c:pt idx="0">
                <c:v>995</c:v>
              </c:pt>
              <c:pt idx="1">
                <c:v>987</c:v>
              </c:pt>
              <c:pt idx="2">
                <c:v>979</c:v>
              </c:pt>
              <c:pt idx="3">
                <c:v>971</c:v>
              </c:pt>
              <c:pt idx="4">
                <c:v>964</c:v>
              </c:pt>
              <c:pt idx="5">
                <c:v>956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431A-C542-B5AA-CE1DB8CD02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20"/>
          <c:min val="900"/>
        </c:scaling>
        <c:delete val="0"/>
        <c:axPos val="l"/>
        <c:majorGridlines>
          <c:spPr>
            <a:ln w="9525">
              <a:solidFill>
                <a:srgbClr val="D7E0E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2030 margin</c:v>
          </c:tx>
          <c:spPr>
            <a:solidFill>
              <a:srgbClr val="D9770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0212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Downside</c:v>
              </c:pt>
              <c:pt idx="1">
                <c:v>Base</c:v>
              </c:pt>
              <c:pt idx="2">
                <c:v>Upside</c:v>
              </c:pt>
            </c:strLit>
          </c:cat>
          <c:val>
            <c:numLit>
              <c:formatCode>General</c:formatCode>
              <c:ptCount val="3"/>
              <c:pt idx="0">
                <c:v>47.8</c:v>
              </c:pt>
              <c:pt idx="1">
                <c:v>65.8</c:v>
              </c:pt>
              <c:pt idx="2">
                <c:v>91.7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687-E54A-8488-96611A1BBC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5"/>
          <c:min val="0"/>
        </c:scaling>
        <c:delete val="0"/>
        <c:axPos val="l"/>
        <c:majorGridlines>
          <c:spPr>
            <a:ln w="9525">
              <a:solidFill>
                <a:srgbClr val="D7E0E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2024 output</c:v>
          </c:tx>
          <c:spPr>
            <a:solidFill>
              <a:srgbClr val="102A3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0212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China Baowu</c:v>
              </c:pt>
              <c:pt idx="1">
                <c:v>Ansteel</c:v>
              </c:pt>
              <c:pt idx="2">
                <c:v>HBIS</c:v>
              </c:pt>
              <c:pt idx="3">
                <c:v>Shagang</c:v>
              </c:pt>
              <c:pt idx="4">
                <c:v>Jianlong</c:v>
              </c:pt>
              <c:pt idx="5">
                <c:v>Shougang</c:v>
              </c:pt>
            </c:strLit>
          </c:cat>
          <c:val>
            <c:numLit>
              <c:formatCode>General</c:formatCode>
              <c:ptCount val="6"/>
              <c:pt idx="0">
                <c:v>130.09</c:v>
              </c:pt>
              <c:pt idx="1">
                <c:v>59.55</c:v>
              </c:pt>
              <c:pt idx="2">
                <c:v>42.28</c:v>
              </c:pt>
              <c:pt idx="3">
                <c:v>40.22</c:v>
              </c:pt>
              <c:pt idx="4">
                <c:v>39.369999999999997</c:v>
              </c:pt>
              <c:pt idx="5">
                <c:v>31.57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D9F-A540-AE52-D90E511EF4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0E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Portfolio model/dataset generated in this repository; synthetic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Portfolio model/dataset generated in this repository; synthetic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Portfolio model/dataset generated in this repository; synthetic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Portfolio model/dataset generated in this repository; synthetic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Portfolio model/dataset generated in this repository; synthetic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Portfolio model/dataset generated in this repository; synthetic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Portfolio model/dataset generated in this repository; synthetic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Portfolio model/dataset generated in this repository; synthetic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https://worldsteel.org/data/world-steel-in-figures/world-steel-in-figures-2025/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https://www.miit.gov.cn/jgsj/ycls/wjfb/art/2025/art_854c86c1f4484bcfa78a6b634a7fb5b1.html</a:t>
            </a:r>
          </a:p>
          <a:p>
            <a:r>
              <a:t>https://wap.miit.gov.cn/threestrategy/dtzx/zhzx/art/2022/art_8134649f6c4e4040a217b980a5f34fdc.html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Portfolio model/dataset generated in this repository; synthetic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Portfolio model/dataset generated in this repository; synthetic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Portfolio model/dataset generated in this repository; synthetic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61CED1E-33F4-26CA-6402-0CFCE4772E3C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9207884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chart" Target="../charts/chart1.xml"/><Relationship Id="rId2" Type="http://schemas.openxmlformats.org/officeDocument/2006/relationships/tags" Target="../tags/tag4.xml"/><Relationship Id="rId16" Type="http://schemas.openxmlformats.org/officeDocument/2006/relationships/image" Target="../media/image2.emf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oleObject" Target="../embeddings/oleObject2.bin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7.xml"/><Relationship Id="rId21" Type="http://schemas.openxmlformats.org/officeDocument/2006/relationships/image" Target="../media/image3.emf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0" Type="http://schemas.openxmlformats.org/officeDocument/2006/relationships/oleObject" Target="../embeddings/oleObject3.bin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10" Type="http://schemas.openxmlformats.org/officeDocument/2006/relationships/tags" Target="../tags/tag24.xml"/><Relationship Id="rId19" Type="http://schemas.openxmlformats.org/officeDocument/2006/relationships/notesSlide" Target="../notesSlides/notesSlide5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F67405-338C-4B12-8CAE-49ECA4195E79}"/>
              </a:ext>
            </a:extLst>
          </p:cNvPr>
          <p:cNvSpPr>
            <a:spLocks noGrp="1"/>
          </p:cNvSpPr>
          <p:nvPr/>
        </p:nvSpPr>
        <p:spPr>
          <a:xfrm>
            <a:off x="495300" y="400050"/>
            <a:ext cx="666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INDEPENDENT PORTFOLIO · AIMIAO SU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FAA972-D45F-4405-B7C1-97DB2F94C1F7}"/>
              </a:ext>
            </a:extLst>
          </p:cNvPr>
          <p:cNvSpPr>
            <a:spLocks noGrp="1"/>
          </p:cNvSpPr>
          <p:nvPr/>
        </p:nvSpPr>
        <p:spPr>
          <a:xfrm>
            <a:off x="495300" y="1790700"/>
            <a:ext cx="9620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4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China Steel Strategy</a:t>
            </a:r>
          </a:p>
          <a:p>
            <a:pPr algn="l">
              <a:defRPr sz="54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Analytics Portfolio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60D378-0566-42B6-8022-1CBA5376ED85}"/>
              </a:ext>
            </a:extLst>
          </p:cNvPr>
          <p:cNvSpPr>
            <a:spLocks noGrp="1"/>
          </p:cNvSpPr>
          <p:nvPr/>
        </p:nvSpPr>
        <p:spPr>
          <a:xfrm>
            <a:off x="523875" y="4762500"/>
            <a:ext cx="7239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Market monitor · cost bridge · 2025–2030 scenarios · competitor &amp; policy intelligence</a:t>
            </a:r>
          </a:p>
        </p:txBody>
      </p:sp>
    </p:spTree>
    <p:extLst>
      <p:ext uri="{BB962C8B-B14F-4D97-AF65-F5344CB8AC3E}">
        <p14:creationId xmlns:p14="http://schemas.microsoft.com/office/powerpoint/2010/main" val="44347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013205B-E189-47C6-8BA8-98B302D8ADCE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The 60-second strategy read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CC6A9A-7763-4EE9-9D0C-E37C4787F36A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538944-B829-43BF-9351-741ACB57811A}"/>
              </a:ext>
            </a:extLst>
          </p:cNvPr>
          <p:cNvSpPr>
            <a:spLocks noGrp="1"/>
          </p:cNvSpPr>
          <p:nvPr/>
        </p:nvSpPr>
        <p:spPr>
          <a:xfrm>
            <a:off x="495300" y="1809750"/>
            <a:ext cx="2571750" cy="17145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868BE8-9013-4BE9-B46B-5494A748F278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A07896-7FF6-4814-8A03-C605C6CF9C2B}"/>
              </a:ext>
            </a:extLst>
          </p:cNvPr>
          <p:cNvSpPr>
            <a:spLocks noGrp="1"/>
          </p:cNvSpPr>
          <p:nvPr/>
        </p:nvSpPr>
        <p:spPr>
          <a:xfrm>
            <a:off x="704850" y="2914650"/>
            <a:ext cx="2152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weekly observations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79D6CD-77B0-4D98-8C80-1175071D1FB9}"/>
              </a:ext>
            </a:extLst>
          </p:cNvPr>
          <p:cNvSpPr>
            <a:spLocks noGrp="1"/>
          </p:cNvSpPr>
          <p:nvPr/>
        </p:nvSpPr>
        <p:spPr>
          <a:xfrm>
            <a:off x="3352800" y="1809750"/>
            <a:ext cx="2571750" cy="17145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3A0784-860C-4784-97A1-BF3F8FD64783}"/>
              </a:ext>
            </a:extLst>
          </p:cNvPr>
          <p:cNvSpPr>
            <a:spLocks noGrp="1"/>
          </p:cNvSpPr>
          <p:nvPr/>
        </p:nvSpPr>
        <p:spPr>
          <a:xfrm>
            <a:off x="3562350" y="2095500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D25BCB-70F9-416A-92E6-282FBE9EBEB7}"/>
              </a:ext>
            </a:extLst>
          </p:cNvPr>
          <p:cNvSpPr>
            <a:spLocks noGrp="1"/>
          </p:cNvSpPr>
          <p:nvPr/>
        </p:nvSpPr>
        <p:spPr>
          <a:xfrm>
            <a:off x="3562350" y="2914650"/>
            <a:ext cx="2152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scenario-year outputs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9BE51D-16E1-4F68-B723-170A7D32DFC2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2571750" cy="17145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872CFB-4028-4601-AAC3-676400238D21}"/>
              </a:ext>
            </a:extLst>
          </p:cNvPr>
          <p:cNvSpPr>
            <a:spLocks noGrp="1"/>
          </p:cNvSpPr>
          <p:nvPr/>
        </p:nvSpPr>
        <p:spPr>
          <a:xfrm>
            <a:off x="6419850" y="2095500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B1F4AA-860B-4BF3-BCC8-904DF1EEF48F}"/>
              </a:ext>
            </a:extLst>
          </p:cNvPr>
          <p:cNvSpPr>
            <a:spLocks noGrp="1"/>
          </p:cNvSpPr>
          <p:nvPr/>
        </p:nvSpPr>
        <p:spPr>
          <a:xfrm>
            <a:off x="6419850" y="2914650"/>
            <a:ext cx="2152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major China producers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396B36-132D-4BAF-A91C-EBC542E828E2}"/>
              </a:ext>
            </a:extLst>
          </p:cNvPr>
          <p:cNvSpPr>
            <a:spLocks noGrp="1"/>
          </p:cNvSpPr>
          <p:nvPr/>
        </p:nvSpPr>
        <p:spPr>
          <a:xfrm>
            <a:off x="9067800" y="1809750"/>
            <a:ext cx="2571750" cy="17145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2C8D35-93C6-43E6-B06D-9A17E40873BD}"/>
              </a:ext>
            </a:extLst>
          </p:cNvPr>
          <p:cNvSpPr>
            <a:spLocks noGrp="1"/>
          </p:cNvSpPr>
          <p:nvPr/>
        </p:nvSpPr>
        <p:spPr>
          <a:xfrm>
            <a:off x="9277350" y="2095500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DD94DA-9E3E-4747-A3A5-873348A9A5A2}"/>
              </a:ext>
            </a:extLst>
          </p:cNvPr>
          <p:cNvSpPr>
            <a:spLocks noGrp="1"/>
          </p:cNvSpPr>
          <p:nvPr/>
        </p:nvSpPr>
        <p:spPr>
          <a:xfrm>
            <a:off x="9277350" y="2914650"/>
            <a:ext cx="2152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auditable model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FC84A0-2D3E-4075-92B0-9D99C984BED6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10572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One data spine connects recurring updates to medium-term decisions: market → cost → margin → scenario → action.</a:t>
            </a:r>
          </a:p>
        </p:txBody>
      </p:sp>
    </p:spTree>
    <p:extLst>
      <p:ext uri="{BB962C8B-B14F-4D97-AF65-F5344CB8AC3E}">
        <p14:creationId xmlns:p14="http://schemas.microsoft.com/office/powerpoint/2010/main" val="863323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1C174AB-97D0-4A89-A9F4-CF97C2C8968C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Latest modeled conditions show a positive but exposed margin buffer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DE60B-D9F0-4342-A2C0-065FAA25D121}"/>
              </a:ext>
            </a:extLst>
          </p:cNvPr>
          <p:cNvSpPr>
            <a:spLocks noGrp="1"/>
          </p:cNvSpPr>
          <p:nvPr/>
        </p:nvSpPr>
        <p:spPr>
          <a:xfrm>
            <a:off x="495300" y="9715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Synthetic weekly data; latest point in the generated series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A14CB8-D891-46F9-B59F-1A43E8B17164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3DAB20-7D0F-41D2-AE8D-613F0C835FAE}"/>
              </a:ext>
            </a:extLst>
          </p:cNvPr>
          <p:cNvSpPr>
            <a:spLocks noGrp="1"/>
          </p:cNvSpPr>
          <p:nvPr/>
        </p:nvSpPr>
        <p:spPr>
          <a:xfrm>
            <a:off x="495300" y="1809750"/>
            <a:ext cx="2571750" cy="17145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2D142A-C563-4956-A53E-2C9FBE3C5438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$533/t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46496-4B6E-46F9-BE56-437BE62B5777}"/>
              </a:ext>
            </a:extLst>
          </p:cNvPr>
          <p:cNvSpPr>
            <a:spLocks noGrp="1"/>
          </p:cNvSpPr>
          <p:nvPr/>
        </p:nvSpPr>
        <p:spPr>
          <a:xfrm>
            <a:off x="704850" y="2914650"/>
            <a:ext cx="2152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HRC price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A70D20-1CD6-4B28-BAE7-9CB7EC0533AE}"/>
              </a:ext>
            </a:extLst>
          </p:cNvPr>
          <p:cNvSpPr>
            <a:spLocks noGrp="1"/>
          </p:cNvSpPr>
          <p:nvPr/>
        </p:nvSpPr>
        <p:spPr>
          <a:xfrm>
            <a:off x="3352800" y="1809750"/>
            <a:ext cx="2571750" cy="17145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2C2D08-B30F-4DD4-B501-676EE7F51BCE}"/>
              </a:ext>
            </a:extLst>
          </p:cNvPr>
          <p:cNvSpPr>
            <a:spLocks noGrp="1"/>
          </p:cNvSpPr>
          <p:nvPr/>
        </p:nvSpPr>
        <p:spPr>
          <a:xfrm>
            <a:off x="3562350" y="2095500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$333/t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0830C7-57CF-4E04-A4A2-1CF0A6442550}"/>
              </a:ext>
            </a:extLst>
          </p:cNvPr>
          <p:cNvSpPr>
            <a:spLocks noGrp="1"/>
          </p:cNvSpPr>
          <p:nvPr/>
        </p:nvSpPr>
        <p:spPr>
          <a:xfrm>
            <a:off x="3562350" y="2914650"/>
            <a:ext cx="2152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blended cash cost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32FBD0-7028-49D5-976A-B86ABF160A7E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2571750" cy="17145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BEFBAF-61F1-4464-BD0B-BBC0738B3901}"/>
              </a:ext>
            </a:extLst>
          </p:cNvPr>
          <p:cNvSpPr>
            <a:spLocks noGrp="1"/>
          </p:cNvSpPr>
          <p:nvPr/>
        </p:nvSpPr>
        <p:spPr>
          <a:xfrm>
            <a:off x="6419850" y="2095500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$166/t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217924-994C-44AC-86DB-FB865414938A}"/>
              </a:ext>
            </a:extLst>
          </p:cNvPr>
          <p:cNvSpPr>
            <a:spLocks noGrp="1"/>
          </p:cNvSpPr>
          <p:nvPr/>
        </p:nvSpPr>
        <p:spPr>
          <a:xfrm>
            <a:off x="6419850" y="2914650"/>
            <a:ext cx="2152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HRC margin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BC97B2-7A9E-4EFD-A934-7602842750E2}"/>
              </a:ext>
            </a:extLst>
          </p:cNvPr>
          <p:cNvSpPr>
            <a:spLocks noGrp="1"/>
          </p:cNvSpPr>
          <p:nvPr/>
        </p:nvSpPr>
        <p:spPr>
          <a:xfrm>
            <a:off x="9067800" y="1809750"/>
            <a:ext cx="2571750" cy="17145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470A6F-73FD-48CE-A541-2B8E425189B3}"/>
              </a:ext>
            </a:extLst>
          </p:cNvPr>
          <p:cNvSpPr>
            <a:spLocks noGrp="1"/>
          </p:cNvSpPr>
          <p:nvPr/>
        </p:nvSpPr>
        <p:spPr>
          <a:xfrm>
            <a:off x="9277350" y="2095500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3.23 Mt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ECE96B-03C6-45D8-BB63-8232C4980BED}"/>
              </a:ext>
            </a:extLst>
          </p:cNvPr>
          <p:cNvSpPr>
            <a:spLocks noGrp="1"/>
          </p:cNvSpPr>
          <p:nvPr/>
        </p:nvSpPr>
        <p:spPr>
          <a:xfrm>
            <a:off x="9277350" y="2914650"/>
            <a:ext cx="2152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weekly exports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156B6C-5DE1-4E33-B128-41845F865B4B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10287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Implication: raw-material volatility and product mix can move earnings faster than modest volume changes.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56F1EF-4B60-407E-8ABF-461CE6C99FAA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000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Source: deterministic synthetic model, seed 20260809</a:t>
            </a:r>
          </a:p>
        </p:txBody>
      </p:sp>
    </p:spTree>
    <p:extLst>
      <p:ext uri="{BB962C8B-B14F-4D97-AF65-F5344CB8AC3E}">
        <p14:creationId xmlns:p14="http://schemas.microsoft.com/office/powerpoint/2010/main" val="1736310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F24AFA09-D340-C162-A624-7C0771FA6B9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431826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7772400" imgH="10058400" progId="TCLayout.ActiveDocument.1">
                  <p:embed/>
                </p:oleObj>
              </mc:Choice>
              <mc:Fallback>
                <p:oleObj name="think-cell Slide" r:id="rId1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DAAC547-6E54-4F11-B512-ABC7EDD0A504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 recurring market update should connect price, inputs and margin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4BCAA6-68EF-4A27-866D-10C60F3CCC52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3102B7-E8C2-469C-8726-C4A3C113BF56}"/>
              </a:ext>
            </a:extLst>
          </p:cNvPr>
          <p:cNvSpPr>
            <a:spLocks noGrp="1"/>
          </p:cNvSpPr>
          <p:nvPr/>
        </p:nvSpPr>
        <p:spPr>
          <a:xfrm>
            <a:off x="8477250" y="2242416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9DB2D-41D4-4CF3-88D6-A92BB935D045}"/>
              </a:ext>
            </a:extLst>
          </p:cNvPr>
          <p:cNvSpPr>
            <a:spLocks noGrp="1"/>
          </p:cNvSpPr>
          <p:nvPr/>
        </p:nvSpPr>
        <p:spPr>
          <a:xfrm>
            <a:off x="8782050" y="2242416"/>
            <a:ext cx="2838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Price alone is not the decision metric.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4043A7-3702-4D52-BC5D-2651CEDAFD32}"/>
              </a:ext>
            </a:extLst>
          </p:cNvPr>
          <p:cNvSpPr>
            <a:spLocks noGrp="1"/>
          </p:cNvSpPr>
          <p:nvPr/>
        </p:nvSpPr>
        <p:spPr>
          <a:xfrm>
            <a:off x="8477250" y="3023466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7E7BD1-8AFB-4458-AE7E-EDDE31CE96CB}"/>
              </a:ext>
            </a:extLst>
          </p:cNvPr>
          <p:cNvSpPr>
            <a:spLocks noGrp="1"/>
          </p:cNvSpPr>
          <p:nvPr/>
        </p:nvSpPr>
        <p:spPr>
          <a:xfrm>
            <a:off x="8782050" y="3023466"/>
            <a:ext cx="2838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Use raw-material and cost bridges to explain spread movement.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53F761-4BE9-4392-87B0-8FD69A7FA15A}"/>
              </a:ext>
            </a:extLst>
          </p:cNvPr>
          <p:cNvSpPr>
            <a:spLocks noGrp="1"/>
          </p:cNvSpPr>
          <p:nvPr/>
        </p:nvSpPr>
        <p:spPr>
          <a:xfrm>
            <a:off x="8477250" y="3804516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2DBA8A-BFD8-40F0-98E0-9059DFD47BAC}"/>
              </a:ext>
            </a:extLst>
          </p:cNvPr>
          <p:cNvSpPr>
            <a:spLocks noGrp="1"/>
          </p:cNvSpPr>
          <p:nvPr/>
        </p:nvSpPr>
        <p:spPr>
          <a:xfrm>
            <a:off x="8782050" y="3804516"/>
            <a:ext cx="28384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Escalate unusual gaps after QC, not before.</a:t>
            </a:r>
          </a:p>
        </p:txBody>
      </p:sp>
      <p:graphicFrame>
        <p:nvGraphicFramePr>
          <p:cNvPr id="231" name="Chart 230">
            <a:extLst>
              <a:ext uri="{FF2B5EF4-FFF2-40B4-BE49-F238E27FC236}">
                <a16:creationId xmlns:a16="http://schemas.microsoft.com/office/drawing/2014/main" id="{7C1AD72C-C4BB-52E3-4667-2E6B6655FA2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97374934"/>
              </p:ext>
            </p:extLst>
          </p:nvPr>
        </p:nvGraphicFramePr>
        <p:xfrm>
          <a:off x="403225" y="1606550"/>
          <a:ext cx="6718300" cy="351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F0F788AA-4819-7B8B-B7A6-31650D7EF2E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23913" y="4976813"/>
            <a:ext cx="484188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619F4B92-DA54-4333-99CF-42ECCCF5145F}" type="datetime'2''''''''''''''''''''''''''''''''''4''-''J''''a''''''''n'''">
              <a:rPr lang="en-US" altLang="en-US" sz="14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24-Jan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CEF2F0-0393-C9C3-BDE9-A9BD6D21B27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784350" y="4976813"/>
            <a:ext cx="271463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1095AE3-95CF-47F9-99F8-2BACD7AC22DA}" type="datetime'''''''A''''''''p''''''''''''''''''''''''''''''''r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Apr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35F570-1629-BBBB-E0A6-DEC8CAFDF009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2670175" y="4976813"/>
            <a:ext cx="204788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B28DF4D-470F-4CA7-A29C-6174EB782CEE}" type="datetime'''''''''''''''''''''''''''''''J''''''''ul''''''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Jul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1BE39D-9380-8A5E-BAD3-E465C751EE11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3494088" y="4976813"/>
            <a:ext cx="265113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49E6DD17-F5FE-4E3B-9451-DF4E84F9466B}" type="datetime'''''''''O''''''''''''''c''''''t''''''''''''''''''''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Oct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47B253-1847-155A-29F7-2F050273AE52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4237038" y="4976813"/>
            <a:ext cx="484188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586770A-78D9-4583-9B14-59E3D279D56A}" type="datetime'2''''''5''''''''''''''''''''''-''''''''''''''Ja''''n''''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25-Jan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F612CD-AFC8-E538-F316-15D6EECB197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5197475" y="4976813"/>
            <a:ext cx="271463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254A58F-C4C9-49CE-B8E3-7CC1581C1230}" type="datetime'''A''''''''''''''''''''''''''''''''pr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Apr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CFE4F3-A620-3EA8-B69C-9222DB69BF5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083300" y="4976813"/>
            <a:ext cx="204788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F12507C-40D4-476F-8CCD-FC65FD6A424A}" type="datetime'''''''''''J''''''''''u''''''l''''''''''''''''''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Jul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D750A0-E69B-3695-F6A5-B6B7E3AE79C9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6907213" y="4976813"/>
            <a:ext cx="265113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8708E3A-01CD-42A3-93CB-AD44E433FAF1}" type="datetime'''''''''O''''''''''''''''''''''''''c''''''t''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Oct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A6705D-00B3-CAD1-0B51-05B284DBD347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231063" y="2320925"/>
            <a:ext cx="344488" cy="24447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F270954E-06C4-48C0-82FD-F3ABC77F7022}" type="datetime'''''''''''''''''''''''H''''''''''''''''''''R''C'">
              <a:rPr lang="en-US" altLang="en-US" sz="1600" smtClean="0">
                <a:solidFill>
                  <a:schemeClr val="accent2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HRC</a:t>
            </a:fld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1F9E9A-2B1B-A5AA-5357-772D0DF8A69A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231063" y="3749675"/>
            <a:ext cx="1063625" cy="24447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868D9591-0A91-4F85-B085-9648FD6C4D92}" type="datetime'''''Bl''''''e''n''''''d''''''''e''''d'''''''' cos''''''t'''">
              <a:rPr lang="en-US" altLang="en-US" sz="1600" smtClean="0">
                <a:solidFill>
                  <a:schemeClr val="accent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Blended cost</a:t>
            </a:fld>
            <a:endParaRPr lang="en-US" sz="16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578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65DF1C1C-68AB-16A6-AC0C-6FDD1ABB96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012214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7772400" imgH="10058400" progId="TCLayout.ActiveDocument.1">
                  <p:embed/>
                </p:oleObj>
              </mc:Choice>
              <mc:Fallback>
                <p:oleObj name="think-cell Slide" r:id="rId20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5CD5C19C-0077-44C1-8A3A-E5EBB0E4E858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The cash-cost bridge makes route exposure explicit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69F461-482F-4C95-9901-FD938339B383}"/>
              </a:ext>
            </a:extLst>
          </p:cNvPr>
          <p:cNvSpPr>
            <a:spLocks noGrp="1"/>
          </p:cNvSpPr>
          <p:nvPr/>
        </p:nvSpPr>
        <p:spPr>
          <a:xfrm>
            <a:off x="495300" y="9715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lang="en-US" sz="1200">
                <a:solidFill>
                  <a:srgbClr val="62717B"/>
                </a:solidFill>
                <a:latin typeface="Arial"/>
                <a:ea typeface="Arial"/>
                <a:cs typeface="Arial"/>
              </a:rPr>
              <a:t>Illustrative USD/t; editable think-cell waterfall; synthetic portfolio data.</a:t>
            </a:r>
            <a:endParaRPr sz="1200" b="0">
              <a:solidFill>
                <a:srgbClr val="62717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0C689F-D001-47EA-943E-E7A0656A5C71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E61E90-4D7E-4667-80C4-3D2C7A678326}"/>
              </a:ext>
            </a:extLst>
          </p:cNvPr>
          <p:cNvSpPr>
            <a:spLocks noGrp="1"/>
          </p:cNvSpPr>
          <p:nvPr/>
        </p:nvSpPr>
        <p:spPr>
          <a:xfrm>
            <a:off x="8242300" y="204686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Model design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560ED8-828F-4B35-99A9-E3E8C0642322}"/>
              </a:ext>
            </a:extLst>
          </p:cNvPr>
          <p:cNvSpPr>
            <a:spLocks noGrp="1"/>
          </p:cNvSpPr>
          <p:nvPr/>
        </p:nvSpPr>
        <p:spPr>
          <a:xfrm>
            <a:off x="8194675" y="257074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7D861-93EE-4B81-A670-D1A0A741CD2A}"/>
              </a:ext>
            </a:extLst>
          </p:cNvPr>
          <p:cNvSpPr>
            <a:spLocks noGrp="1"/>
          </p:cNvSpPr>
          <p:nvPr/>
        </p:nvSpPr>
        <p:spPr>
          <a:xfrm>
            <a:off x="8499475" y="2570740"/>
            <a:ext cx="2362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BF-BOF: ore + coal + conversion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4CADD5-2273-4BCE-9206-A85838956684}"/>
              </a:ext>
            </a:extLst>
          </p:cNvPr>
          <p:cNvSpPr>
            <a:spLocks noGrp="1"/>
          </p:cNvSpPr>
          <p:nvPr/>
        </p:nvSpPr>
        <p:spPr>
          <a:xfrm>
            <a:off x="8194675" y="335179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C3B70E-31C5-4A63-B1DA-E8D9B4C819CF}"/>
              </a:ext>
            </a:extLst>
          </p:cNvPr>
          <p:cNvSpPr>
            <a:spLocks noGrp="1"/>
          </p:cNvSpPr>
          <p:nvPr/>
        </p:nvSpPr>
        <p:spPr>
          <a:xfrm>
            <a:off x="8499475" y="3351790"/>
            <a:ext cx="2362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EAF: scrap + electricity proxy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5EF705-5088-4D0A-8372-37AEE3825A15}"/>
              </a:ext>
            </a:extLst>
          </p:cNvPr>
          <p:cNvSpPr>
            <a:spLocks noGrp="1"/>
          </p:cNvSpPr>
          <p:nvPr/>
        </p:nvSpPr>
        <p:spPr>
          <a:xfrm>
            <a:off x="8194675" y="413284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B13D83-DA4C-4692-953B-09B91ED5F97A}"/>
              </a:ext>
            </a:extLst>
          </p:cNvPr>
          <p:cNvSpPr>
            <a:spLocks noGrp="1"/>
          </p:cNvSpPr>
          <p:nvPr/>
        </p:nvSpPr>
        <p:spPr>
          <a:xfrm>
            <a:off x="8499475" y="4132840"/>
            <a:ext cx="2362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Blended route mix stays visible</a:t>
            </a: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A93160EE-8523-98F4-E462-F4D303B06FA4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31988" y="1614488"/>
            <a:ext cx="4730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F9F7E2D6-09C3-8417-1CDE-BAEBF0BCF51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998788" y="2730500"/>
            <a:ext cx="4730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A61B0E6F-18B3-7380-904F-68E0DD3590EB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064000" y="3490913"/>
            <a:ext cx="4730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C52C13E-DFB2-E2DB-9CD7-E459DBB04529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5129213" y="3878263"/>
            <a:ext cx="4730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88E3C73A-D4ED-0801-F3F9-1B458475208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196013" y="4097338"/>
            <a:ext cx="4730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2" name="Chart 231">
            <a:extLst>
              <a:ext uri="{FF2B5EF4-FFF2-40B4-BE49-F238E27FC236}">
                <a16:creationId xmlns:a16="http://schemas.microsoft.com/office/drawing/2014/main" id="{A1B5535E-000D-0765-EF41-E2E475E17EB7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634960838"/>
              </p:ext>
            </p:extLst>
          </p:nvPr>
        </p:nvGraphicFramePr>
        <p:xfrm>
          <a:off x="1020763" y="1181100"/>
          <a:ext cx="6559550" cy="4319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71" name="Rectangle 170">
            <a:extLst>
              <a:ext uri="{FF2B5EF4-FFF2-40B4-BE49-F238E27FC236}">
                <a16:creationId xmlns:a16="http://schemas.microsoft.com/office/drawing/2014/main" id="{1CC7F588-D5E9-7A73-F6AC-EBEF1F94B941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277938" y="5253038"/>
            <a:ext cx="714375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4B4030B5-FA6B-4AF4-A669-18F5EA3FBFBB}" type="datetime'''''''''H''''RC'''' ''''''''pr''''''i''c''''e''''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HRC price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8A80EDF-031D-D1C0-5CB6-A58B0A8B9D60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2468563" y="2076450"/>
            <a:ext cx="466725" cy="192088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bg1"/>
                </a:solidFill>
                <a:effectLst/>
              </a:rPr>
              <a:t>-</a:t>
            </a:r>
            <a:fld id="{6552E117-7FB7-4CFE-A600-32B8DC9BE08D}" type="datetime'''''''''''$''''1''''''''''7''''''''''3''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$173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A147B5B-4E54-3B8C-9271-10AB586505EB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2409825" y="5253038"/>
            <a:ext cx="585788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E1EFC8B-E591-49BD-A694-B4183647B4CE}" type="datetime'''''I''''''''''ron'''''''''''''' ''''''''o''''''re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Iron ore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A1E964E-8C52-7FFD-A6E2-4DF453180A4C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3533775" y="3014663"/>
            <a:ext cx="466725" cy="192088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bg1"/>
                </a:solidFill>
                <a:effectLst/>
              </a:rPr>
              <a:t>-</a:t>
            </a:r>
            <a:fld id="{E3AC1E8F-4A83-466B-8992-3F59E23FCDA9}" type="datetime'''''''''''$''''''1''''''''1''''''''''''''''''8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$118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BD9918A-10AA-2015-69E8-B29FFF31AEB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3349625" y="5253038"/>
            <a:ext cx="835025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5AEBB8D8-7471-43AE-8FA4-9750025C36E6}" type="datetime'''''C''''''o''k''i''''''''''n''''''''g'' ''''c''''o''''al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Coking coal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4067868-CAB7-5864-597C-48E2DE743C0F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4332288" y="5253038"/>
            <a:ext cx="1001713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45A5EC28-FF6D-4B6B-81C8-D7EBEEC36621}" type="datetime'''''''''''''''O''''th''''''''er'''''''''' B''''F''-''''B''OF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Other BF-BOF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D33F7A70-569B-DC1C-A7DE-8E6355591267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5491163" y="5253038"/>
            <a:ext cx="817563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C27582F-9D1D-4E20-9827-960A891EA5DC}" type="datetime'''''C''''''''''o''n''v''''e''rs''i''''''''''o''''''''''''''n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Conversion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E347C0F-883B-ECE2-3059-E9573EB5E25E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6699250" y="5253038"/>
            <a:ext cx="530225" cy="21272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5F786B0-6D29-40B4-8AF7-88E08EC15C29}" type="datetime'''''''''''M''''a''''''r''''''''''''''''''''''''''gi''n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Margin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4ED694CB-1083-D67D-E0BC-EDB29E97CCEA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4645025" y="3589338"/>
            <a:ext cx="376238" cy="192088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bg1"/>
                </a:solidFill>
                <a:effectLst/>
              </a:rPr>
              <a:t>-</a:t>
            </a:r>
            <a:fld id="{9670E96D-A469-4F46-B157-A57B437A9748}" type="datetime'''''''''''''''''''$''''''''''''''''''''''''''''6''''''''''0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$60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055154FE-719E-F1D4-C745-DFDCEB8526F0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711825" y="3892550"/>
            <a:ext cx="376238" cy="192088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bg1"/>
                </a:solidFill>
                <a:effectLst/>
              </a:rPr>
              <a:t>-</a:t>
            </a:r>
            <a:fld id="{25B78FA1-409D-46B9-A19F-9A1AA038F3FC}" type="datetime'''''''''''''$''''3''''''''''''4''''''''''''''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$34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54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6D7ACA-EB80-4106-8A8E-AD8732D4F849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Scenario logic separates assumptions from conclusions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3D8B67-D00C-440D-993D-F85CF46BED87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66750" y="1571625"/>
          <a:ext cx="7810500" cy="3714750"/>
        </p:xfrm>
        <a:graphic>
          <a:graphicData uri="http://schemas.openxmlformats.org/drawingml/2006/table">
            <a:tbl>
              <a:tblPr firstRow="1" bandRow="1"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t>Lever</a:t>
                      </a:r>
                    </a:p>
                  </a:txBody>
                  <a:tcPr>
                    <a:solidFill>
                      <a:srgbClr val="10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Downside</a:t>
                      </a:r>
                    </a:p>
                  </a:txBody>
                  <a:tcPr>
                    <a:solidFill>
                      <a:srgbClr val="10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>
                    <a:solidFill>
                      <a:srgbClr val="10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Upside</a:t>
                      </a:r>
                    </a:p>
                  </a:txBody>
                  <a:tcPr>
                    <a:solidFill>
                      <a:srgbClr val="10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t>Demand CAGR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+0.5%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t>Supply CAGR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t>Price elasticity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t>Cost 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t>2030 EAF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8D1103E-8219-4152-B4EE-32E3E5DAFA9D}"/>
              </a:ext>
            </a:extLst>
          </p:cNvPr>
          <p:cNvSpPr>
            <a:spLocks noGrp="1"/>
          </p:cNvSpPr>
          <p:nvPr/>
        </p:nvSpPr>
        <p:spPr>
          <a:xfrm>
            <a:off x="8858250" y="1571625"/>
            <a:ext cx="2571750" cy="371475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E39753-DA3C-4E44-8DD7-8BA61A574A7A}"/>
              </a:ext>
            </a:extLst>
          </p:cNvPr>
          <p:cNvSpPr>
            <a:spLocks noGrp="1"/>
          </p:cNvSpPr>
          <p:nvPr/>
        </p:nvSpPr>
        <p:spPr>
          <a:xfrm>
            <a:off x="9144000" y="19050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Audit trail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F92A-1541-483C-BC2B-397F89F5C087}"/>
              </a:ext>
            </a:extLst>
          </p:cNvPr>
          <p:cNvSpPr>
            <a:spLocks noGrp="1"/>
          </p:cNvSpPr>
          <p:nvPr/>
        </p:nvSpPr>
        <p:spPr>
          <a:xfrm>
            <a:off x="9191625" y="2476500"/>
            <a:ext cx="2095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Inputs</a:t>
            </a:r>
          </a:p>
          <a:p>
            <a:pPr algn="ctr">
              <a:defRPr sz="165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↓</a:t>
            </a:r>
          </a:p>
          <a:p>
            <a:pPr algn="ctr">
              <a:defRPr sz="165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Supply-demand balance</a:t>
            </a:r>
          </a:p>
          <a:p>
            <a:pPr algn="ctr">
              <a:defRPr sz="165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↓</a:t>
            </a:r>
          </a:p>
          <a:p>
            <a:pPr algn="ctr">
              <a:defRPr sz="165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Price response</a:t>
            </a:r>
          </a:p>
          <a:p>
            <a:pPr algn="ctr">
              <a:defRPr sz="165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↓</a:t>
            </a:r>
          </a:p>
          <a:p>
            <a:pPr algn="ctr">
              <a:defRPr sz="165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Cash cost</a:t>
            </a:r>
          </a:p>
          <a:p>
            <a:pPr algn="ctr">
              <a:defRPr sz="165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↓</a:t>
            </a:r>
          </a:p>
          <a:p>
            <a:pPr algn="ctr">
              <a:defRPr sz="165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Margin</a:t>
            </a:r>
          </a:p>
        </p:txBody>
      </p:sp>
    </p:spTree>
    <p:extLst>
      <p:ext uri="{BB962C8B-B14F-4D97-AF65-F5344CB8AC3E}">
        <p14:creationId xmlns:p14="http://schemas.microsoft.com/office/powerpoint/2010/main" val="521875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CD9B709-A2F5-4791-9B94-838524D7EEA5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Base case: capacity discipline partly offsets softer demand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E9087B-3468-4DAE-A1F9-6D9DF647586B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523875" y="1476375"/>
          <a:ext cx="723900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A60E7F0-69CE-4EFD-8944-0CA813E3AAD1}"/>
              </a:ext>
            </a:extLst>
          </p:cNvPr>
          <p:cNvSpPr>
            <a:spLocks noGrp="1"/>
          </p:cNvSpPr>
          <p:nvPr/>
        </p:nvSpPr>
        <p:spPr>
          <a:xfrm>
            <a:off x="8239125" y="1571625"/>
            <a:ext cx="295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2030 model 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A599EA-92CB-41FC-9E4F-9D38ADB2CB98}"/>
              </a:ext>
            </a:extLst>
          </p:cNvPr>
          <p:cNvSpPr>
            <a:spLocks noGrp="1"/>
          </p:cNvSpPr>
          <p:nvPr/>
        </p:nvSpPr>
        <p:spPr>
          <a:xfrm>
            <a:off x="8239125" y="2095500"/>
            <a:ext cx="3000375" cy="9144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B5C5FA-D7B2-41D7-8FAF-D2AA2C4DFE51}"/>
              </a:ext>
            </a:extLst>
          </p:cNvPr>
          <p:cNvSpPr>
            <a:spLocks noGrp="1"/>
          </p:cNvSpPr>
          <p:nvPr/>
        </p:nvSpPr>
        <p:spPr>
          <a:xfrm>
            <a:off x="8429625" y="2266950"/>
            <a:ext cx="1381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932 Mt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EF0D46-A842-4444-B95E-E254D861C6BB}"/>
              </a:ext>
            </a:extLst>
          </p:cNvPr>
          <p:cNvSpPr>
            <a:spLocks noGrp="1"/>
          </p:cNvSpPr>
          <p:nvPr/>
        </p:nvSpPr>
        <p:spPr>
          <a:xfrm>
            <a:off x="9906000" y="2324100"/>
            <a:ext cx="1095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697C1E-1DB2-4C1F-A6F8-210F731DA465}"/>
              </a:ext>
            </a:extLst>
          </p:cNvPr>
          <p:cNvSpPr>
            <a:spLocks noGrp="1"/>
          </p:cNvSpPr>
          <p:nvPr/>
        </p:nvSpPr>
        <p:spPr>
          <a:xfrm>
            <a:off x="8239125" y="3238500"/>
            <a:ext cx="3000375" cy="9144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64E65B-76EF-448A-A690-B902144D230F}"/>
              </a:ext>
            </a:extLst>
          </p:cNvPr>
          <p:cNvSpPr>
            <a:spLocks noGrp="1"/>
          </p:cNvSpPr>
          <p:nvPr/>
        </p:nvSpPr>
        <p:spPr>
          <a:xfrm>
            <a:off x="8429625" y="3409950"/>
            <a:ext cx="1381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956 Mt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E94F4B-B7AC-49A9-9610-25FC92BA15A2}"/>
              </a:ext>
            </a:extLst>
          </p:cNvPr>
          <p:cNvSpPr>
            <a:spLocks noGrp="1"/>
          </p:cNvSpPr>
          <p:nvPr/>
        </p:nvSpPr>
        <p:spPr>
          <a:xfrm>
            <a:off x="9906000" y="3467100"/>
            <a:ext cx="1095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supply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717061-E005-4713-9677-3A862AD5AB61}"/>
              </a:ext>
            </a:extLst>
          </p:cNvPr>
          <p:cNvSpPr>
            <a:spLocks noGrp="1"/>
          </p:cNvSpPr>
          <p:nvPr/>
        </p:nvSpPr>
        <p:spPr>
          <a:xfrm>
            <a:off x="8239125" y="4381500"/>
            <a:ext cx="3000375" cy="9144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3C49D6-494D-420B-9209-2881C5476DEA}"/>
              </a:ext>
            </a:extLst>
          </p:cNvPr>
          <p:cNvSpPr>
            <a:spLocks noGrp="1"/>
          </p:cNvSpPr>
          <p:nvPr/>
        </p:nvSpPr>
        <p:spPr>
          <a:xfrm>
            <a:off x="8429625" y="4552950"/>
            <a:ext cx="1381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$66/t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4FBB16-4B8D-4EFD-9317-7B7FF2E7FF3D}"/>
              </a:ext>
            </a:extLst>
          </p:cNvPr>
          <p:cNvSpPr>
            <a:spLocks noGrp="1"/>
          </p:cNvSpPr>
          <p:nvPr/>
        </p:nvSpPr>
        <p:spPr>
          <a:xfrm>
            <a:off x="9906000" y="4610100"/>
            <a:ext cx="1095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margin</a:t>
            </a:r>
          </a:p>
        </p:txBody>
      </p:sp>
    </p:spTree>
    <p:extLst>
      <p:ext uri="{BB962C8B-B14F-4D97-AF65-F5344CB8AC3E}">
        <p14:creationId xmlns:p14="http://schemas.microsoft.com/office/powerpoint/2010/main" val="117594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6BE4B5-9454-4436-9E5A-69FDE5EB8B2C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Margin outcomes are more sensitive than volume headlines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14249F-F288-4474-B04D-BAD987DF7296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66750" y="1571625"/>
          <a:ext cx="7239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67C8730-A251-459C-9748-944BB0BC08FE}"/>
              </a:ext>
            </a:extLst>
          </p:cNvPr>
          <p:cNvSpPr>
            <a:spLocks noGrp="1"/>
          </p:cNvSpPr>
          <p:nvPr/>
        </p:nvSpPr>
        <p:spPr>
          <a:xfrm>
            <a:off x="8334375" y="171450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0BE51-6C01-41CF-ADCE-723BF060049A}"/>
              </a:ext>
            </a:extLst>
          </p:cNvPr>
          <p:cNvSpPr>
            <a:spLocks noGrp="1"/>
          </p:cNvSpPr>
          <p:nvPr/>
        </p:nvSpPr>
        <p:spPr>
          <a:xfrm>
            <a:off x="8639175" y="1714500"/>
            <a:ext cx="26955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Use scenarios to expose the decision range—not claim a forecast.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289048-FFD3-42D1-BF88-734F3F39824F}"/>
              </a:ext>
            </a:extLst>
          </p:cNvPr>
          <p:cNvSpPr>
            <a:spLocks noGrp="1"/>
          </p:cNvSpPr>
          <p:nvPr/>
        </p:nvSpPr>
        <p:spPr>
          <a:xfrm>
            <a:off x="8334375" y="24955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43A9C0-0284-4AE6-8A8F-4F96A8807BB0}"/>
              </a:ext>
            </a:extLst>
          </p:cNvPr>
          <p:cNvSpPr>
            <a:spLocks noGrp="1"/>
          </p:cNvSpPr>
          <p:nvPr/>
        </p:nvSpPr>
        <p:spPr>
          <a:xfrm>
            <a:off x="8639175" y="2495550"/>
            <a:ext cx="26955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Watch cost inflation, elasticity and EAF pathway alongside demand.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A66789-9B71-4868-AF6C-DBEA30FD9ED1}"/>
              </a:ext>
            </a:extLst>
          </p:cNvPr>
          <p:cNvSpPr>
            <a:spLocks noGrp="1"/>
          </p:cNvSpPr>
          <p:nvPr/>
        </p:nvSpPr>
        <p:spPr>
          <a:xfrm>
            <a:off x="8334375" y="327660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CD23B2-E3F7-40EE-8D9D-810FBF8B8081}"/>
              </a:ext>
            </a:extLst>
          </p:cNvPr>
          <p:cNvSpPr>
            <a:spLocks noGrp="1"/>
          </p:cNvSpPr>
          <p:nvPr/>
        </p:nvSpPr>
        <p:spPr>
          <a:xfrm>
            <a:off x="8639175" y="3276600"/>
            <a:ext cx="26955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Refresh assumptions when policy or raw-material regimes change.</a:t>
            </a:r>
          </a:p>
        </p:txBody>
      </p:sp>
    </p:spTree>
    <p:extLst>
      <p:ext uri="{BB962C8B-B14F-4D97-AF65-F5344CB8AC3E}">
        <p14:creationId xmlns:p14="http://schemas.microsoft.com/office/powerpoint/2010/main" val="1763742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1A1C9B9-C5C8-47A1-9E9A-90435CF9CE68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China’s producer landscape is concentrated at the top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D61256-4734-45C5-A9E5-CD3BC2932401}"/>
              </a:ext>
            </a:extLst>
          </p:cNvPr>
          <p:cNvSpPr>
            <a:spLocks noGrp="1"/>
          </p:cNvSpPr>
          <p:nvPr/>
        </p:nvSpPr>
        <p:spPr>
          <a:xfrm>
            <a:off x="495300" y="9715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Public 2024 crude steel production; group scope affects comparability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764719-888D-4CA2-AA12-58DCF809D483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523875" y="1428750"/>
          <a:ext cx="762000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0D9BDC4-6D7E-4257-BE06-91A57448D97B}"/>
              </a:ext>
            </a:extLst>
          </p:cNvPr>
          <p:cNvSpPr>
            <a:spLocks noGrp="1"/>
          </p:cNvSpPr>
          <p:nvPr/>
        </p:nvSpPr>
        <p:spPr>
          <a:xfrm>
            <a:off x="8524875" y="1666875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Screen beyond scale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222E94-0F17-4820-A2FF-97AB89A131AC}"/>
              </a:ext>
            </a:extLst>
          </p:cNvPr>
          <p:cNvSpPr>
            <a:spLocks noGrp="1"/>
          </p:cNvSpPr>
          <p:nvPr/>
        </p:nvSpPr>
        <p:spPr>
          <a:xfrm>
            <a:off x="8477250" y="2238375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899544-EE7C-4712-A9E8-8081E55CD61A}"/>
              </a:ext>
            </a:extLst>
          </p:cNvPr>
          <p:cNvSpPr>
            <a:spLocks noGrp="1"/>
          </p:cNvSpPr>
          <p:nvPr/>
        </p:nvSpPr>
        <p:spPr>
          <a:xfrm>
            <a:off x="8782050" y="2238375"/>
            <a:ext cx="25527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Product mix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43F377-D443-4E5F-8B1A-97C0EC4C7574}"/>
              </a:ext>
            </a:extLst>
          </p:cNvPr>
          <p:cNvSpPr>
            <a:spLocks noGrp="1"/>
          </p:cNvSpPr>
          <p:nvPr/>
        </p:nvSpPr>
        <p:spPr>
          <a:xfrm>
            <a:off x="8477250" y="3019425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4061E7-A043-4A93-85D3-0EDCC30B0E7E}"/>
              </a:ext>
            </a:extLst>
          </p:cNvPr>
          <p:cNvSpPr>
            <a:spLocks noGrp="1"/>
          </p:cNvSpPr>
          <p:nvPr/>
        </p:nvSpPr>
        <p:spPr>
          <a:xfrm>
            <a:off x="8782050" y="3019425"/>
            <a:ext cx="25527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Regional footprint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CF698B-2354-43C6-A44D-A1CBFF66C614}"/>
              </a:ext>
            </a:extLst>
          </p:cNvPr>
          <p:cNvSpPr>
            <a:spLocks noGrp="1"/>
          </p:cNvSpPr>
          <p:nvPr/>
        </p:nvSpPr>
        <p:spPr>
          <a:xfrm>
            <a:off x="8477250" y="3800475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2238D7-D099-41C3-8157-39740FF01384}"/>
              </a:ext>
            </a:extLst>
          </p:cNvPr>
          <p:cNvSpPr>
            <a:spLocks noGrp="1"/>
          </p:cNvSpPr>
          <p:nvPr/>
        </p:nvSpPr>
        <p:spPr>
          <a:xfrm>
            <a:off x="8782050" y="3800475"/>
            <a:ext cx="25527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Cost-curve position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61F530-E650-425B-A90C-6D6A01879BB4}"/>
              </a:ext>
            </a:extLst>
          </p:cNvPr>
          <p:cNvSpPr>
            <a:spLocks noGrp="1"/>
          </p:cNvSpPr>
          <p:nvPr/>
        </p:nvSpPr>
        <p:spPr>
          <a:xfrm>
            <a:off x="8477250" y="4581525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08209-13FD-44D6-A52E-20FDE597A7BC}"/>
              </a:ext>
            </a:extLst>
          </p:cNvPr>
          <p:cNvSpPr>
            <a:spLocks noGrp="1"/>
          </p:cNvSpPr>
          <p:nvPr/>
        </p:nvSpPr>
        <p:spPr>
          <a:xfrm>
            <a:off x="8782050" y="4581525"/>
            <a:ext cx="25527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Decarbonization pathway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7AB77D-B77C-4E37-B205-37B6091BB135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000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Source: worldsteel, World Steel in Figures 2025</a:t>
            </a:r>
          </a:p>
        </p:txBody>
      </p:sp>
    </p:spTree>
    <p:extLst>
      <p:ext uri="{BB962C8B-B14F-4D97-AF65-F5344CB8AC3E}">
        <p14:creationId xmlns:p14="http://schemas.microsoft.com/office/powerpoint/2010/main" val="1208827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5BB33B2-61F8-4572-9916-EA380F5F52CE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Policy belongs inside the model, not in an appendix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6E2754-D0F7-426D-BDA7-F03D47A2C048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B1E0B0-9384-4A5D-9C60-1E535B3944AA}"/>
              </a:ext>
            </a:extLst>
          </p:cNvPr>
          <p:cNvSpPr>
            <a:spLocks noGrp="1"/>
          </p:cNvSpPr>
          <p:nvPr/>
        </p:nvSpPr>
        <p:spPr>
          <a:xfrm>
            <a:off x="619125" y="1571625"/>
            <a:ext cx="5143500" cy="1571625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E6BEA-6CEC-43E7-B871-354C03621FD5}"/>
              </a:ext>
            </a:extLst>
          </p:cNvPr>
          <p:cNvSpPr>
            <a:spLocks noGrp="1"/>
          </p:cNvSpPr>
          <p:nvPr/>
        </p:nvSpPr>
        <p:spPr>
          <a:xfrm>
            <a:off x="857250" y="17811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Capacity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1659D3-00D7-4C76-AD0F-9D0422CBD308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619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Replacement and compliance can slow effective supply growth.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9B3EF9-9367-4065-9949-35E76814987A}"/>
              </a:ext>
            </a:extLst>
          </p:cNvPr>
          <p:cNvSpPr>
            <a:spLocks noGrp="1"/>
          </p:cNvSpPr>
          <p:nvPr/>
        </p:nvSpPr>
        <p:spPr>
          <a:xfrm>
            <a:off x="6238875" y="1571625"/>
            <a:ext cx="5143500" cy="1571625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393099-9E95-468D-A3E7-CD7959C6A73F}"/>
              </a:ext>
            </a:extLst>
          </p:cNvPr>
          <p:cNvSpPr>
            <a:spLocks noGrp="1"/>
          </p:cNvSpPr>
          <p:nvPr/>
        </p:nvSpPr>
        <p:spPr>
          <a:xfrm>
            <a:off x="6477000" y="17811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E6521-C4DA-4761-9E80-8E02DCEA6B6A}"/>
              </a:ext>
            </a:extLst>
          </p:cNvPr>
          <p:cNvSpPr>
            <a:spLocks noGrp="1"/>
          </p:cNvSpPr>
          <p:nvPr/>
        </p:nvSpPr>
        <p:spPr>
          <a:xfrm>
            <a:off x="6477000" y="2238375"/>
            <a:ext cx="4619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EAF and low-carbon routes change input exposure and capex.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572A8F-D5CC-4D57-8D35-2634CAC5BD58}"/>
              </a:ext>
            </a:extLst>
          </p:cNvPr>
          <p:cNvSpPr>
            <a:spLocks noGrp="1"/>
          </p:cNvSpPr>
          <p:nvPr/>
        </p:nvSpPr>
        <p:spPr>
          <a:xfrm>
            <a:off x="619125" y="3524250"/>
            <a:ext cx="5143500" cy="1571625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54C505-154B-405A-9596-493707F2C55E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Mix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5BAAE0-9A6E-48E1-8FFC-061B05F81CD9}"/>
              </a:ext>
            </a:extLst>
          </p:cNvPr>
          <p:cNvSpPr>
            <a:spLocks noGrp="1"/>
          </p:cNvSpPr>
          <p:nvPr/>
        </p:nvSpPr>
        <p:spPr>
          <a:xfrm>
            <a:off x="857250" y="4191000"/>
            <a:ext cx="4619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Product upgrading can support value even if tonnes soften.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A25FE7-3A82-4F18-9109-EDA509567322}"/>
              </a:ext>
            </a:extLst>
          </p:cNvPr>
          <p:cNvSpPr>
            <a:spLocks noGrp="1"/>
          </p:cNvSpPr>
          <p:nvPr/>
        </p:nvSpPr>
        <p:spPr>
          <a:xfrm>
            <a:off x="6238875" y="3524250"/>
            <a:ext cx="5143500" cy="1571625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561BAB-DA98-4AD4-A3FF-9FA048BD8F77}"/>
              </a:ext>
            </a:extLst>
          </p:cNvPr>
          <p:cNvSpPr>
            <a:spLocks noGrp="1"/>
          </p:cNvSpPr>
          <p:nvPr/>
        </p:nvSpPr>
        <p:spPr>
          <a:xfrm>
            <a:off x="6477000" y="37338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0AE1E9-0005-428F-8291-66B54DD348C6}"/>
              </a:ext>
            </a:extLst>
          </p:cNvPr>
          <p:cNvSpPr>
            <a:spLocks noGrp="1"/>
          </p:cNvSpPr>
          <p:nvPr/>
        </p:nvSpPr>
        <p:spPr>
          <a:xfrm>
            <a:off x="6477000" y="4191000"/>
            <a:ext cx="4619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Digital monitoring improves policy and operating visibility.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653D1E-547E-499A-8DE9-1D15DCD76C8C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000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Sources: MIIT 2025–2026 stable-growth plan; MIIT/NDRC/MEE industrial carbon-peaking plan</a:t>
            </a:r>
          </a:p>
        </p:txBody>
      </p:sp>
    </p:spTree>
    <p:extLst>
      <p:ext uri="{BB962C8B-B14F-4D97-AF65-F5344CB8AC3E}">
        <p14:creationId xmlns:p14="http://schemas.microsoft.com/office/powerpoint/2010/main" val="639310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4571E5-E071-4769-9C05-5FE62431961D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 practical operating cadence turns analysis into action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B7989C-2C9B-4E34-8E2A-97F1A7D27DC1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762000" y="1619250"/>
          <a:ext cx="10668000" cy="3524250"/>
        </p:xfrm>
        <a:graphic>
          <a:graphicData uri="http://schemas.openxmlformats.org/drawingml/2006/table">
            <a:tbl>
              <a:tblPr firstRow="1" bandRow="1"/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t>Cadence</a:t>
                      </a:r>
                    </a:p>
                  </a:txBody>
                  <a:tcPr>
                    <a:solidFill>
                      <a:srgbClr val="10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Core output</a:t>
                      </a:r>
                    </a:p>
                  </a:txBody>
                  <a:tcPr>
                    <a:solidFill>
                      <a:srgbClr val="10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Decision</a:t>
                      </a:r>
                    </a:p>
                  </a:txBody>
                  <a:tcPr>
                    <a:solidFill>
                      <a:srgbClr val="10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t>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Price, inputs, output, demand,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Investigate exceptions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t>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Trend, variance, competitor/policy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Refresh view and priorities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Scenario and sensitivity refresh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Reallocate research effort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t>Event-driven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Policy or commodity shock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Rebase assumptions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070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E25216B-4377-4066-BB6E-E839E46C1605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Recommendation: monitor the spread drivers, then update the scenario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5EEFC0-5AB4-48BE-8461-DEE885BA5624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EA591A-A2DF-426B-BF31-8B431F60C811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2F9FD9-33DA-4A82-87CC-5C4312552945}"/>
              </a:ext>
            </a:extLst>
          </p:cNvPr>
          <p:cNvSpPr>
            <a:spLocks noGrp="1"/>
          </p:cNvSpPr>
          <p:nvPr/>
        </p:nvSpPr>
        <p:spPr>
          <a:xfrm>
            <a:off x="1066800" y="1571625"/>
            <a:ext cx="9982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Lead recurring updates with margin and supply-demand balance, not price alone.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73C6E2-6E26-4B96-8C94-EE9F8758910B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4347A1-29E3-4EA2-8E7A-9199BB3408BF}"/>
              </a:ext>
            </a:extLst>
          </p:cNvPr>
          <p:cNvSpPr>
            <a:spLocks noGrp="1"/>
          </p:cNvSpPr>
          <p:nvPr/>
        </p:nvSpPr>
        <p:spPr>
          <a:xfrm>
            <a:off x="1066800" y="2352675"/>
            <a:ext cx="9982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Treat capacity discipline and decarbonization as model inputs with explicit assumption owners.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10D28E-AEB9-41BE-83A6-B65D84E2D7E2}"/>
              </a:ext>
            </a:extLst>
          </p:cNvPr>
          <p:cNvSpPr>
            <a:spLocks noGrp="1"/>
          </p:cNvSpPr>
          <p:nvPr/>
        </p:nvSpPr>
        <p:spPr>
          <a:xfrm>
            <a:off x="762000" y="3133725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332F12-6B9E-49D0-93B7-F335DFA20B4A}"/>
              </a:ext>
            </a:extLst>
          </p:cNvPr>
          <p:cNvSpPr>
            <a:spLocks noGrp="1"/>
          </p:cNvSpPr>
          <p:nvPr/>
        </p:nvSpPr>
        <p:spPr>
          <a:xfrm>
            <a:off x="1066800" y="3133725"/>
            <a:ext cx="9982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Use competitor output as a scale screen; layer mix, geography and cost position before concluding.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AB5341-4023-4C1E-BFB4-54B1373F3D24}"/>
              </a:ext>
            </a:extLst>
          </p:cNvPr>
          <p:cNvSpPr>
            <a:spLocks noGrp="1"/>
          </p:cNvSpPr>
          <p:nvPr/>
        </p:nvSpPr>
        <p:spPr>
          <a:xfrm>
            <a:off x="762000" y="3914775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7B75D4-5E21-4EB8-B103-5D851DF9C0D8}"/>
              </a:ext>
            </a:extLst>
          </p:cNvPr>
          <p:cNvSpPr>
            <a:spLocks noGrp="1"/>
          </p:cNvSpPr>
          <p:nvPr/>
        </p:nvSpPr>
        <p:spPr>
          <a:xfrm>
            <a:off x="1066800" y="3914775"/>
            <a:ext cx="9982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12B"/>
                </a:solidFill>
                <a:latin typeface="Arial"/>
                <a:ea typeface="Arial"/>
                <a:cs typeface="Arial"/>
              </a:rPr>
              <a:t>Maintain an evidence log that separates public facts from synthetic portfolio outputs.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A78BD-FFCD-43F8-BB63-A36A529D9FF6}"/>
              </a:ext>
            </a:extLst>
          </p:cNvPr>
          <p:cNvSpPr>
            <a:spLocks noGrp="1"/>
          </p:cNvSpPr>
          <p:nvPr/>
        </p:nvSpPr>
        <p:spPr>
          <a:xfrm>
            <a:off x="781050" y="5191125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This deck contains editable native charts and tables. It does not contain proprietary think-cell objects.</a:t>
            </a:r>
          </a:p>
        </p:txBody>
      </p:sp>
    </p:spTree>
    <p:extLst>
      <p:ext uri="{BB962C8B-B14F-4D97-AF65-F5344CB8AC3E}">
        <p14:creationId xmlns:p14="http://schemas.microsoft.com/office/powerpoint/2010/main" val="1492887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517E14B-F225-44F1-9DA3-51E60678BC07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047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The portfolio is ready to reproduce and discuss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6EAF5D-C4F1-4A19-A2FC-DAE20C2F1D18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09B93E-DD0A-4641-BA83-6E268EB8AFF8}"/>
              </a:ext>
            </a:extLst>
          </p:cNvPr>
          <p:cNvSpPr>
            <a:spLocks noGrp="1"/>
          </p:cNvSpPr>
          <p:nvPr/>
        </p:nvSpPr>
        <p:spPr>
          <a:xfrm>
            <a:off x="495300" y="1809750"/>
            <a:ext cx="2571750" cy="17145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4303F8-F9A8-49D4-BBD6-617D9BC84B17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9440A-66C7-4026-8D6E-02C364B94430}"/>
              </a:ext>
            </a:extLst>
          </p:cNvPr>
          <p:cNvSpPr>
            <a:spLocks noGrp="1"/>
          </p:cNvSpPr>
          <p:nvPr/>
        </p:nvSpPr>
        <p:spPr>
          <a:xfrm>
            <a:off x="704850" y="2914650"/>
            <a:ext cx="2152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updates + scenarios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80E6FF-5A0E-4BFB-A1B6-5FE67CA2901B}"/>
              </a:ext>
            </a:extLst>
          </p:cNvPr>
          <p:cNvSpPr>
            <a:spLocks noGrp="1"/>
          </p:cNvSpPr>
          <p:nvPr/>
        </p:nvSpPr>
        <p:spPr>
          <a:xfrm>
            <a:off x="3352800" y="1809750"/>
            <a:ext cx="2571750" cy="17145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854BB4-68A8-4FD3-99FD-81193A697886}"/>
              </a:ext>
            </a:extLst>
          </p:cNvPr>
          <p:cNvSpPr>
            <a:spLocks noGrp="1"/>
          </p:cNvSpPr>
          <p:nvPr/>
        </p:nvSpPr>
        <p:spPr>
          <a:xfrm>
            <a:off x="3562350" y="2095500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Excel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6E28D9-6E1D-41AB-BF52-63A8B812F3B5}"/>
              </a:ext>
            </a:extLst>
          </p:cNvPr>
          <p:cNvSpPr>
            <a:spLocks noGrp="1"/>
          </p:cNvSpPr>
          <p:nvPr/>
        </p:nvSpPr>
        <p:spPr>
          <a:xfrm>
            <a:off x="3562350" y="2914650"/>
            <a:ext cx="2152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formulas + QC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76CF6-5EDE-47C9-B402-4B0FC8C7AE52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2571750" cy="17145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495151-C182-485C-A2F5-4601D9A6DEEF}"/>
              </a:ext>
            </a:extLst>
          </p:cNvPr>
          <p:cNvSpPr>
            <a:spLocks noGrp="1"/>
          </p:cNvSpPr>
          <p:nvPr/>
        </p:nvSpPr>
        <p:spPr>
          <a:xfrm>
            <a:off x="6419850" y="2095500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HTML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B025B4-CDF2-4008-8FF6-32A28D6A10BA}"/>
              </a:ext>
            </a:extLst>
          </p:cNvPr>
          <p:cNvSpPr>
            <a:spLocks noGrp="1"/>
          </p:cNvSpPr>
          <p:nvPr/>
        </p:nvSpPr>
        <p:spPr>
          <a:xfrm>
            <a:off x="6419850" y="2914650"/>
            <a:ext cx="2152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interactive dashboard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524479-2D7E-4C5F-963B-1FD5C4CB7E25}"/>
              </a:ext>
            </a:extLst>
          </p:cNvPr>
          <p:cNvSpPr>
            <a:spLocks noGrp="1"/>
          </p:cNvSpPr>
          <p:nvPr/>
        </p:nvSpPr>
        <p:spPr>
          <a:xfrm>
            <a:off x="9067800" y="1809750"/>
            <a:ext cx="2571750" cy="1714500"/>
          </a:xfrm>
          <a:prstGeom prst="rect">
            <a:avLst/>
          </a:prstGeom>
          <a:solidFill>
            <a:srgbClr val="F1F5F6"/>
          </a:solidFill>
          <a:ln w="9525">
            <a:solidFill>
              <a:srgbClr val="F1F5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6FD701-37C8-4855-ADA9-219E97D4857B}"/>
              </a:ext>
            </a:extLst>
          </p:cNvPr>
          <p:cNvSpPr>
            <a:spLocks noGrp="1"/>
          </p:cNvSpPr>
          <p:nvPr/>
        </p:nvSpPr>
        <p:spPr>
          <a:xfrm>
            <a:off x="9277350" y="2095500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EFA7EB-8E38-446A-BBB9-33E516C6BDE5}"/>
              </a:ext>
            </a:extLst>
          </p:cNvPr>
          <p:cNvSpPr>
            <a:spLocks noGrp="1"/>
          </p:cNvSpPr>
          <p:nvPr/>
        </p:nvSpPr>
        <p:spPr>
          <a:xfrm>
            <a:off x="9277350" y="2914650"/>
            <a:ext cx="2152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1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17B"/>
                </a:solidFill>
                <a:latin typeface="Arial"/>
                <a:ea typeface="Arial"/>
                <a:cs typeface="Arial"/>
              </a:rPr>
              <a:t>BI handoff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C4E60B-4E33-4876-905F-93DF8A949883}"/>
              </a:ext>
            </a:extLst>
          </p:cNvPr>
          <p:cNvSpPr>
            <a:spLocks noGrp="1"/>
          </p:cNvSpPr>
          <p:nvPr/>
        </p:nvSpPr>
        <p:spPr>
          <a:xfrm>
            <a:off x="714375" y="4381500"/>
            <a:ext cx="990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Next conversation: assumptions → result → caveat → decision.</a:t>
            </a:r>
          </a:p>
        </p:txBody>
      </p:sp>
    </p:spTree>
    <p:extLst>
      <p:ext uri="{BB962C8B-B14F-4D97-AF65-F5344CB8AC3E}">
        <p14:creationId xmlns:p14="http://schemas.microsoft.com/office/powerpoint/2010/main" val="16008197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07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ocElXzm59.25ECEz4Xy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uPh2swYrX8vVjWgj57Qy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uPy0PGokCZMLLgAKW0RO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cwI5uBAGbHWTMfS6Mrm4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o.Fsxcc.mhOY9Ch4iJT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CyReNw51XsKd2WO_naa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.RYAW0ZUuwcm4qRSwmr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GeNLYfWM9CqLev77ncS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.BWI_JBPb1wZBXCE0hOY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U8._H._RtGuOwF6b5R3S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1we9z6affM9XB3QOemML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4KdELtCam5a1OpPsZtv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1DXRjv93ZjEkCmQv6H6G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92KInm7uymgvpZkLxo4s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VXBfzynxxKpenfAp8V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medQqpOp_hPnLtzssh4a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xVJtdn9IQ5BdKy_dSpU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5vdrJ6yqA7h8oWLeeFP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aEB8y3iJzx1ExCI5sID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VHdSdwvWURpQS3Ie.00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XEho2I4jp6Bprjvkjypq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_oTDSWeYfeuee6T3EGrd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uN_IjTDSx_XAh72gSuM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xmYsFsqHcmNtUaBXhXI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veAZ37.S6z1uhSib64y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cXmyJPxlu17msJYFisxw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H2XTmtt7VXoLIQEAbxvQ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911</Words>
  <Application>Microsoft Macintosh PowerPoint</Application>
  <DocSecurity>0</DocSecurity>
  <PresentationFormat>Widescreen</PresentationFormat>
  <Paragraphs>211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ChatGPT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F80904</cp:lastModifiedBy>
  <cp:revision>1</cp:revision>
  <dcterms:created xsi:type="dcterms:W3CDTF">2026-08-08T18:36:47Z</dcterms:created>
  <dcterms:modified xsi:type="dcterms:W3CDTF">2026-08-09T07:59:36Z</dcterms:modified>
</cp:coreProperties>
</file>