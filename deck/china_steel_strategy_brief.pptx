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3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4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5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1f6cb931db54c03" /><Relationship Type="http://schemas.openxmlformats.org/officeDocument/2006/relationships/extended-properties" Target="/docProps/app.xml" Id="Re826aff75998466e" /><Relationship Type="http://schemas.openxmlformats.org/officeDocument/2006/relationships/officeDocument" Target="/ppt/presentation.xml" Id="R823ae156b4424a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9049d32b0d64235"/>
  </p:sldMasterIdLst>
  <p:notesMasterIdLst>
    <p:notesMasterId xmlns:r="http://schemas.openxmlformats.org/officeDocument/2006/relationships" r:id="R4ed1fa19c54b4107"/>
  </p:notesMasterIdLst>
  <p:sldIdLst>
    <p:sldId xmlns:r="http://schemas.openxmlformats.org/officeDocument/2006/relationships" id="256" r:id="R95b76cedc6f04e20"/>
    <p:sldId xmlns:r="http://schemas.openxmlformats.org/officeDocument/2006/relationships" id="257" r:id="Rb72b9fae2c1d451f"/>
    <p:sldId xmlns:r="http://schemas.openxmlformats.org/officeDocument/2006/relationships" id="258" r:id="R59969d0758c64717"/>
    <p:sldId xmlns:r="http://schemas.openxmlformats.org/officeDocument/2006/relationships" id="259" r:id="R883638b066214d57"/>
    <p:sldId xmlns:r="http://schemas.openxmlformats.org/officeDocument/2006/relationships" id="260" r:id="R811c77ad8db344e0"/>
    <p:sldId xmlns:r="http://schemas.openxmlformats.org/officeDocument/2006/relationships" id="261" r:id="R731445a73d5c4c1c"/>
    <p:sldId xmlns:r="http://schemas.openxmlformats.org/officeDocument/2006/relationships" id="262" r:id="Rae6ef7918c144b92"/>
    <p:sldId xmlns:r="http://schemas.openxmlformats.org/officeDocument/2006/relationships" id="263" r:id="R26e5eaa5a5e04e46"/>
    <p:sldId xmlns:r="http://schemas.openxmlformats.org/officeDocument/2006/relationships" id="264" r:id="Rcdd42bf4f94e495e"/>
    <p:sldId xmlns:r="http://schemas.openxmlformats.org/officeDocument/2006/relationships" id="265" r:id="Re2633af10ee64f26"/>
    <p:sldId xmlns:r="http://schemas.openxmlformats.org/officeDocument/2006/relationships" id="266" r:id="Re6299bbbeb584f93"/>
    <p:sldId xmlns:r="http://schemas.openxmlformats.org/officeDocument/2006/relationships" id="267" r:id="Red38877f55cc4667"/>
    <p:sldId xmlns:r="http://schemas.openxmlformats.org/officeDocument/2006/relationships" id="268" r:id="Rb5b167ce595a448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d29ef224c93417f" /><Relationship Type="http://schemas.openxmlformats.org/officeDocument/2006/relationships/slideMaster" Target="/ppt/slideMasters/slideMaster1.xml" Id="R69049d32b0d64235" /><Relationship Type="http://schemas.openxmlformats.org/officeDocument/2006/relationships/notesMaster" Target="/ppt/notesMasters/notesMaster1.xml" Id="R4ed1fa19c54b4107" /><Relationship Type="http://schemas.openxmlformats.org/officeDocument/2006/relationships/presProps" Target="/ppt/presProps.xml" Id="R589a3a06a0a44e8b" /><Relationship Type="http://schemas.openxmlformats.org/officeDocument/2006/relationships/tableStyles" Target="/ppt/tableStyles.xml" Id="Rb29089568e154baf" /><Relationship Type="http://schemas.openxmlformats.org/officeDocument/2006/relationships/slide" Target="/ppt/slides/slide1.xml" Id="R95b76cedc6f04e20" /><Relationship Type="http://schemas.openxmlformats.org/officeDocument/2006/relationships/slide" Target="/ppt/slides/slide2.xml" Id="Rb72b9fae2c1d451f" /><Relationship Type="http://schemas.openxmlformats.org/officeDocument/2006/relationships/slide" Target="/ppt/slides/slide3.xml" Id="R59969d0758c64717" /><Relationship Type="http://schemas.openxmlformats.org/officeDocument/2006/relationships/slide" Target="/ppt/slides/slide4.xml" Id="R883638b066214d57" /><Relationship Type="http://schemas.openxmlformats.org/officeDocument/2006/relationships/slide" Target="/ppt/slides/slide5.xml" Id="R811c77ad8db344e0" /><Relationship Type="http://schemas.openxmlformats.org/officeDocument/2006/relationships/slide" Target="/ppt/slides/slide6.xml" Id="R731445a73d5c4c1c" /><Relationship Type="http://schemas.openxmlformats.org/officeDocument/2006/relationships/slide" Target="/ppt/slides/slide7.xml" Id="Rae6ef7918c144b92" /><Relationship Type="http://schemas.openxmlformats.org/officeDocument/2006/relationships/slide" Target="/ppt/slides/slide8.xml" Id="R26e5eaa5a5e04e46" /><Relationship Type="http://schemas.openxmlformats.org/officeDocument/2006/relationships/slide" Target="/ppt/slides/slide9.xml" Id="Rcdd42bf4f94e495e" /><Relationship Type="http://schemas.openxmlformats.org/officeDocument/2006/relationships/slide" Target="/ppt/slides/slide10.xml" Id="Re2633af10ee64f26" /><Relationship Type="http://schemas.openxmlformats.org/officeDocument/2006/relationships/slide" Target="/ppt/slides/slide11.xml" Id="Re6299bbbeb584f93" /><Relationship Type="http://schemas.openxmlformats.org/officeDocument/2006/relationships/slide" Target="/ppt/slides/slide12.xml" Id="Red38877f55cc4667" /><Relationship Type="http://schemas.openxmlformats.org/officeDocument/2006/relationships/slide" Target="/ppt/slides/slide13.xml" Id="Rb5b167ce595a44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adaa0cde0804a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9e9c08052d0494e" /><Relationship Type="http://schemas.openxmlformats.org/officeDocument/2006/relationships/notesMaster" Target="/ppt/notesMasters/notesMaster1.xml" Id="Rb66fe34d83db4bd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b79f567a9c94779" /><Relationship Type="http://schemas.openxmlformats.org/officeDocument/2006/relationships/notesMaster" Target="/ppt/notesMasters/notesMaster1.xml" Id="Rcf3b91baca51470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f2d78abd2734567" /><Relationship Type="http://schemas.openxmlformats.org/officeDocument/2006/relationships/notesMaster" Target="/ppt/notesMasters/notesMaster1.xml" Id="R0411b72a529343e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3fb987ade444b3b" /><Relationship Type="http://schemas.openxmlformats.org/officeDocument/2006/relationships/notesMaster" Target="/ppt/notesMasters/notesMaster1.xml" Id="Rb6d084aa587a437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0f66e38826647ac" /><Relationship Type="http://schemas.openxmlformats.org/officeDocument/2006/relationships/notesMaster" Target="/ppt/notesMasters/notesMaster1.xml" Id="R027d95641cee4fb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773489d9ef44a0e" /><Relationship Type="http://schemas.openxmlformats.org/officeDocument/2006/relationships/notesMaster" Target="/ppt/notesMasters/notesMaster1.xml" Id="R9586ecb01f14494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c719ed8041e4b12" /><Relationship Type="http://schemas.openxmlformats.org/officeDocument/2006/relationships/notesMaster" Target="/ppt/notesMasters/notesMaster1.xml" Id="R62699ab1baaa4ce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2471fbd4b349e9" /><Relationship Type="http://schemas.openxmlformats.org/officeDocument/2006/relationships/notesMaster" Target="/ppt/notesMasters/notesMaster1.xml" Id="Rf154447ad39f420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940cc69b08648c1" /><Relationship Type="http://schemas.openxmlformats.org/officeDocument/2006/relationships/notesMaster" Target="/ppt/notesMasters/notesMaster1.xml" Id="Rf2849a18355440b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93e25d2072d4422" /><Relationship Type="http://schemas.openxmlformats.org/officeDocument/2006/relationships/notesMaster" Target="/ppt/notesMasters/notesMaster1.xml" Id="R53f60ddb98ac4c7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34999b8eef84acb" /><Relationship Type="http://schemas.openxmlformats.org/officeDocument/2006/relationships/notesMaster" Target="/ppt/notesMasters/notesMaster1.xml" Id="Rd95367b3c5ff403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82fe547e4c14387" /><Relationship Type="http://schemas.openxmlformats.org/officeDocument/2006/relationships/notesMaster" Target="/ppt/notesMasters/notesMaster1.xml" Id="R6f6f757714f5453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9c34a901d554bf0" /><Relationship Type="http://schemas.openxmlformats.org/officeDocument/2006/relationships/notesMaster" Target="/ppt/notesMasters/notesMaster1.xml" Id="R7e851f9bb82f43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Portfolio model/dataset generated in this repository; synthetic unless stated.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Portfolio model/dataset generated in this repository; synthetic unless stated.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Portfolio model/dataset generated in this repository; synthetic unless stated.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Portfolio model/dataset generated in this repository; synthetic unless stated.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Portfolio model/dataset generated in this repository; synthetic unless stated.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Portfolio model/dataset generated in this repository; synthetic unless stated.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Portfolio model/dataset generated in this repository; synthetic unless stated.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Portfolio model/dataset generated in this repository; synthetic unless stated.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https://worldsteel.org/data/world-steel-in-figures/world-steel-in-figures-2025/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https://www.miit.gov.cn/jgsj/ycls/wjfb/art/2025/art_854c86c1f4484bcfa78a6b634a7fb5b1.html</a:t>
            </a:r>
          </a:p>
          <a:p xmlns:a="http://schemas.openxmlformats.org/drawingml/2006/main">
            <a:r>
              <a:t>https://wap.miit.gov.cn/threestrategy/dtzx/zhzx/art/2022/art_8134649f6c4e4040a217b980a5f34fdc.html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Portfolio model/dataset generated in this repository; synthetic unless stated.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Portfolio model/dataset generated in this repository; synthetic unless stated.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Portfolio model/dataset generated in this repository; synthetic unless stated.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dc4a01b9a94f3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e5fe479db84202" /><Relationship Type="http://schemas.openxmlformats.org/officeDocument/2006/relationships/slideLayout" Target="/ppt/slideLayouts/slideLayout1.xml" Id="R1fb88673fa87466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fb88673fa87466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539869b8de4bee" /><Relationship Type="http://schemas.openxmlformats.org/officeDocument/2006/relationships/notesSlide" Target="/ppt/notesSlides/notesSlide1.xml" Id="R4fefb717b11b43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c3b56931614d4d" /><Relationship Type="http://schemas.openxmlformats.org/officeDocument/2006/relationships/notesSlide" Target="/ppt/notesSlides/notesSlide2.xml" Id="R509cb77001754ba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6a14d938e849fe" /><Relationship Type="http://schemas.openxmlformats.org/officeDocument/2006/relationships/notesSlide" Target="/ppt/notesSlides/notesSlide3.xml" Id="Rf5400461e34448b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92844529b34b82" /><Relationship Type="http://schemas.openxmlformats.org/officeDocument/2006/relationships/chart" Target="/ppt/slides/charts/chart1.xml" Id="Re8728eec6e274ab3" /><Relationship Type="http://schemas.openxmlformats.org/officeDocument/2006/relationships/notesSlide" Target="/ppt/notesSlides/notesSlide4.xml" Id="Rf0afda03a35c42e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38086916334db5" /><Relationship Type="http://schemas.openxmlformats.org/officeDocument/2006/relationships/chart" Target="/ppt/slides/charts/chart2.xml" Id="Rf1e8702c57284155" /><Relationship Type="http://schemas.openxmlformats.org/officeDocument/2006/relationships/notesSlide" Target="/ppt/notesSlides/notesSlide5.xml" Id="Rb073205b946242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790d1197e14dbf" /><Relationship Type="http://schemas.openxmlformats.org/officeDocument/2006/relationships/notesSlide" Target="/ppt/notesSlides/notesSlide6.xml" Id="Ra0c9ec4a7d15414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0695dd84694b47" /><Relationship Type="http://schemas.openxmlformats.org/officeDocument/2006/relationships/chart" Target="/ppt/slides/charts/chart3.xml" Id="Rad8a33102ef7423a" /><Relationship Type="http://schemas.openxmlformats.org/officeDocument/2006/relationships/notesSlide" Target="/ppt/notesSlides/notesSlide7.xml" Id="R35ae0df621844c2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e8204973ab4d57" /><Relationship Type="http://schemas.openxmlformats.org/officeDocument/2006/relationships/chart" Target="/ppt/slides/charts/chart4.xml" Id="R962f6b5703b24355" /><Relationship Type="http://schemas.openxmlformats.org/officeDocument/2006/relationships/notesSlide" Target="/ppt/notesSlides/notesSlide8.xml" Id="Rb4be7da3f251431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cfe7c248da417d" /><Relationship Type="http://schemas.openxmlformats.org/officeDocument/2006/relationships/chart" Target="/ppt/slides/charts/chart5.xml" Id="Re0d6c4665e554d66" /><Relationship Type="http://schemas.openxmlformats.org/officeDocument/2006/relationships/notesSlide" Target="/ppt/notesSlides/notesSlide9.xml" Id="R1d5a949ef7f0429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07368c99dc44f5" /><Relationship Type="http://schemas.openxmlformats.org/officeDocument/2006/relationships/notesSlide" Target="/ppt/notesSlides/notesSlide10.xml" Id="R95eb1040904b408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d6ceea4acb4e83" /><Relationship Type="http://schemas.openxmlformats.org/officeDocument/2006/relationships/notesSlide" Target="/ppt/notesSlides/notesSlide11.xml" Id="R6314c8f5df274b0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e3eca9a39a4570" /><Relationship Type="http://schemas.openxmlformats.org/officeDocument/2006/relationships/notesSlide" Target="/ppt/notesSlides/notesSlide12.xml" Id="R26caa0ece7c3476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3c2eb0abd24ecb" /><Relationship Type="http://schemas.openxmlformats.org/officeDocument/2006/relationships/notesSlide" Target="/ppt/notesSlides/notesSlide13.xml" Id="Rf5860653f491453d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HRC</c:v>
          </c:tx>
          <c:spPr>
            <a:ln xmlns:a="http://schemas.openxmlformats.org/drawingml/2006/main" w="28575">
              <a:solidFill>
                <a:srgbClr val="D97706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D97706"/>
              </a:solidFill>
            </c:spPr>
          </c:marker>
          <c:cat>
            <c:strLit>
              <c:ptCount val="8"/>
              <c:pt idx="0">
                <c:v>Jan 24</c:v>
              </c:pt>
              <c:pt idx="1">
                <c:v>Apr</c:v>
              </c:pt>
              <c:pt idx="2">
                <c:v>Jul</c:v>
              </c:pt>
              <c:pt idx="3">
                <c:v>Oct</c:v>
              </c:pt>
              <c:pt idx="4">
                <c:v>Jan 25</c:v>
              </c:pt>
              <c:pt idx="5">
                <c:v>Apr</c:v>
              </c:pt>
              <c:pt idx="6">
                <c:v>Jul</c:v>
              </c:pt>
              <c:pt idx="7">
                <c:v>Oct</c:v>
              </c:pt>
            </c:strLit>
          </c:cat>
          <c:val>
            <c:numLit>
              <c:formatCode>$0</c:formatCode>
              <c:ptCount val="8"/>
              <c:pt idx="0">
                <c:v>558</c:v>
              </c:pt>
              <c:pt idx="1">
                <c:v>570</c:v>
              </c:pt>
              <c:pt idx="2">
                <c:v>548</c:v>
              </c:pt>
              <c:pt idx="3">
                <c:v>536</c:v>
              </c:pt>
              <c:pt idx="4">
                <c:v>544</c:v>
              </c:pt>
              <c:pt idx="5">
                <c:v>526</c:v>
              </c:pt>
              <c:pt idx="6">
                <c:v>522</c:v>
              </c:pt>
              <c:pt idx="7">
                <c:v>529</c:v>
              </c:pt>
            </c:numLit>
          </c:val>
        </c:ser>
        <c:ser>
          <c:idx val="1"/>
          <c:order val="1"/>
          <c:tx>
            <c:v>Blended cost</c:v>
          </c:tx>
          <c:spPr>
            <a:ln xmlns:a="http://schemas.openxmlformats.org/drawingml/2006/main" w="28575">
              <a:solidFill>
                <a:srgbClr val="102A36"/>
              </a:solidFill>
              <a:prstDash val="solid"/>
            </a:ln>
          </c:spPr>
          <c:marker>
            <c:symbol val="square"/>
            <c:size val="5"/>
            <c:spPr>
              <a:solidFill xmlns:a="http://schemas.openxmlformats.org/drawingml/2006/main">
                <a:srgbClr val="102A36"/>
              </a:solidFill>
            </c:spPr>
          </c:marker>
          <c:cat>
            <c:strLit>
              <c:ptCount val="8"/>
              <c:pt idx="0">
                <c:v>Jan 24</c:v>
              </c:pt>
              <c:pt idx="1">
                <c:v>Apr</c:v>
              </c:pt>
              <c:pt idx="2">
                <c:v>Jul</c:v>
              </c:pt>
              <c:pt idx="3">
                <c:v>Oct</c:v>
              </c:pt>
              <c:pt idx="4">
                <c:v>Jan 25</c:v>
              </c:pt>
              <c:pt idx="5">
                <c:v>Apr</c:v>
              </c:pt>
              <c:pt idx="6">
                <c:v>Jul</c:v>
              </c:pt>
              <c:pt idx="7">
                <c:v>Oct</c:v>
              </c:pt>
            </c:strLit>
          </c:cat>
          <c:val>
            <c:numLit>
              <c:formatCode>$0</c:formatCode>
              <c:ptCount val="8"/>
              <c:pt idx="0">
                <c:v>388</c:v>
              </c:pt>
              <c:pt idx="1">
                <c:v>397</c:v>
              </c:pt>
              <c:pt idx="2">
                <c:v>380</c:v>
              </c:pt>
              <c:pt idx="3">
                <c:v>369</c:v>
              </c:pt>
              <c:pt idx="4">
                <c:v>376</c:v>
              </c:pt>
              <c:pt idx="5">
                <c:v>361</c:v>
              </c:pt>
              <c:pt idx="6">
                <c:v>356</c:v>
              </c:pt>
              <c:pt idx="7">
                <c:v>368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E0E4"/>
              </a:solidFill>
              <a:prstDash val="solid"/>
            </a:ln>
          </c:spPr>
        </c:majorGridlines>
        <c:numFmt formatCode="$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legend>
      <c:legendPos val="b"/>
      <c:overlay val="0"/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Bridge component</c:v>
          </c:tx>
          <c:spPr>
            <a:solidFill xmlns:a="http://schemas.openxmlformats.org/drawingml/2006/main">
              <a:srgbClr val="D97706"/>
            </a:solidFill>
          </c:spPr>
          <c:invertIfNegative val="0"/>
          <c:cat>
            <c:strLit>
              <c:ptCount val="6"/>
              <c:pt idx="0">
                <c:v>HRC price</c:v>
              </c:pt>
              <c:pt idx="1">
                <c:v>Iron ore</c:v>
              </c:pt>
              <c:pt idx="2">
                <c:v>Coking coal</c:v>
              </c:pt>
              <c:pt idx="3">
                <c:v>Other BF-BOF</c:v>
              </c:pt>
              <c:pt idx="4">
                <c:v>Conversion</c:v>
              </c:pt>
              <c:pt idx="5">
                <c:v>Margin</c:v>
              </c:pt>
            </c:strLit>
          </c:cat>
          <c:val>
            <c:numLit>
              <c:formatCode>$0</c:formatCode>
              <c:ptCount val="6"/>
              <c:pt idx="0">
                <c:v>555</c:v>
              </c:pt>
              <c:pt idx="1">
                <c:v>-173</c:v>
              </c:pt>
              <c:pt idx="2">
                <c:v>-118</c:v>
              </c:pt>
              <c:pt idx="3">
                <c:v>-60</c:v>
              </c:pt>
              <c:pt idx="4">
                <c:v>-34</c:v>
              </c:pt>
              <c:pt idx="5">
                <c:v>170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021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620"/>
          <c:min val="-22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E0E4"/>
              </a:solidFill>
              <a:prstDash val="solid"/>
            </a:ln>
          </c:spPr>
        </c:majorGridlines>
        <c:numFmt formatCode="$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Demand</c:v>
          </c:tx>
          <c:spPr>
            <a:ln xmlns:a="http://schemas.openxmlformats.org/drawingml/2006/main" w="28575">
              <a:solidFill>
                <a:srgbClr val="D97706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D97706"/>
              </a:solidFill>
            </c:spPr>
          </c:marker>
          <c:cat>
            <c:numLit>
              <c:formatCode>General</c:formatCode>
              <c:ptCount val="6"/>
              <c:pt idx="0">
                <c:v>2025</c:v>
              </c:pt>
              <c:pt idx="1">
                <c:v>2026</c:v>
              </c:pt>
              <c:pt idx="2">
                <c:v>2027</c:v>
              </c:pt>
              <c:pt idx="3">
                <c:v>2028</c:v>
              </c:pt>
              <c:pt idx="4">
                <c:v>2029</c:v>
              </c:pt>
              <c:pt idx="5">
                <c:v>2030</c:v>
              </c:pt>
            </c:numLit>
          </c:cat>
          <c:val>
            <c:numLit>
              <c:formatCode>0 Mt</c:formatCode>
              <c:ptCount val="6"/>
              <c:pt idx="0">
                <c:v>980</c:v>
              </c:pt>
              <c:pt idx="1">
                <c:v>970</c:v>
              </c:pt>
              <c:pt idx="2">
                <c:v>960</c:v>
              </c:pt>
              <c:pt idx="3">
                <c:v>951</c:v>
              </c:pt>
              <c:pt idx="4">
                <c:v>941</c:v>
              </c:pt>
              <c:pt idx="5">
                <c:v>932</c:v>
              </c:pt>
            </c:numLit>
          </c:val>
        </c:ser>
        <c:ser>
          <c:idx val="1"/>
          <c:order val="1"/>
          <c:tx>
            <c:v>Supply</c:v>
          </c:tx>
          <c:spPr>
            <a:ln xmlns:a="http://schemas.openxmlformats.org/drawingml/2006/main" w="28575">
              <a:solidFill>
                <a:srgbClr val="102A36"/>
              </a:solidFill>
              <a:prstDash val="solid"/>
            </a:ln>
          </c:spPr>
          <c:marker>
            <c:symbol val="square"/>
            <c:size val="6"/>
            <c:spPr>
              <a:solidFill xmlns:a="http://schemas.openxmlformats.org/drawingml/2006/main">
                <a:srgbClr val="102A36"/>
              </a:solidFill>
            </c:spPr>
          </c:marker>
          <c:cat>
            <c:numLit>
              <c:formatCode>General</c:formatCode>
              <c:ptCount val="6"/>
              <c:pt idx="0">
                <c:v>2025</c:v>
              </c:pt>
              <c:pt idx="1">
                <c:v>2026</c:v>
              </c:pt>
              <c:pt idx="2">
                <c:v>2027</c:v>
              </c:pt>
              <c:pt idx="3">
                <c:v>2028</c:v>
              </c:pt>
              <c:pt idx="4">
                <c:v>2029</c:v>
              </c:pt>
              <c:pt idx="5">
                <c:v>2030</c:v>
              </c:pt>
            </c:numLit>
          </c:cat>
          <c:val>
            <c:numLit>
              <c:formatCode>0 Mt</c:formatCode>
              <c:ptCount val="6"/>
              <c:pt idx="0">
                <c:v>995</c:v>
              </c:pt>
              <c:pt idx="1">
                <c:v>987</c:v>
              </c:pt>
              <c:pt idx="2">
                <c:v>979</c:v>
              </c:pt>
              <c:pt idx="3">
                <c:v>971</c:v>
              </c:pt>
              <c:pt idx="4">
                <c:v>964</c:v>
              </c:pt>
              <c:pt idx="5">
                <c:v>956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20"/>
          <c:min val="9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E0E4"/>
              </a:solidFill>
              <a:prstDash val="solid"/>
            </a:ln>
          </c:spPr>
        </c:majorGridlines>
        <c:numFmt formatCode="0 Mt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legend>
      <c:legendPos val="b"/>
      <c:overlay val="0"/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2030 margin</c:v>
          </c:tx>
          <c:spPr>
            <a:solidFill xmlns:a="http://schemas.openxmlformats.org/drawingml/2006/main">
              <a:srgbClr val="D97706"/>
            </a:solidFill>
          </c:spPr>
          <c:cat>
            <c:strLit>
              <c:ptCount val="3"/>
              <c:pt idx="0">
                <c:v>Downside</c:v>
              </c:pt>
              <c:pt idx="1">
                <c:v>Base</c:v>
              </c:pt>
              <c:pt idx="2">
                <c:v>Upside</c:v>
              </c:pt>
            </c:strLit>
          </c:cat>
          <c:val>
            <c:numLit>
              <c:formatCode>$0/t</c:formatCode>
              <c:ptCount val="3"/>
              <c:pt idx="0">
                <c:v>47.8</c:v>
              </c:pt>
              <c:pt idx="1">
                <c:v>65.8</c:v>
              </c:pt>
              <c:pt idx="2">
                <c:v>91.7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 b="1">
                  <a:solidFill>
                    <a:srgbClr val="1021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E0E4"/>
              </a:solidFill>
              <a:prstDash val="solid"/>
            </a:ln>
          </c:spPr>
        </c:majorGridlines>
        <c:numFmt formatCode="$0/t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2024 output</c:v>
          </c:tx>
          <c:spPr>
            <a:solidFill xmlns:a="http://schemas.openxmlformats.org/drawingml/2006/main">
              <a:srgbClr val="102A36"/>
            </a:solidFill>
          </c:spPr>
          <c:cat>
            <c:strLit>
              <c:ptCount val="6"/>
              <c:pt idx="0">
                <c:v>China Baowu</c:v>
              </c:pt>
              <c:pt idx="1">
                <c:v>Ansteel</c:v>
              </c:pt>
              <c:pt idx="2">
                <c:v>HBIS</c:v>
              </c:pt>
              <c:pt idx="3">
                <c:v>Shagang</c:v>
              </c:pt>
              <c:pt idx="4">
                <c:v>Jianlong</c:v>
              </c:pt>
              <c:pt idx="5">
                <c:v>Shougang</c:v>
              </c:pt>
            </c:strLit>
          </c:cat>
          <c:val>
            <c:numLit>
              <c:formatCode>General</c:formatCode>
              <c:ptCount val="6"/>
              <c:pt idx="0">
                <c:v>130.09</c:v>
              </c:pt>
              <c:pt idx="1">
                <c:v>59.55</c:v>
              </c:pt>
              <c:pt idx="2">
                <c:v>42.28</c:v>
              </c:pt>
              <c:pt idx="3">
                <c:v>40.22</c:v>
              </c:pt>
              <c:pt idx="4">
                <c:v>39.37</c:v>
              </c:pt>
              <c:pt idx="5">
                <c:v>31.57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021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E0E4"/>
              </a:solidFill>
              <a:prstDash val="solid"/>
            </a:ln>
          </c:spPr>
        </c:majorGridlines>
        <c:numFmt formatCode="0 Mt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F67405-338C-4B12-8CAE-49ECA4195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666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INDEPENDENT PORTFOLIO · AIMIAO SU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FAA972-D45F-4405-B7C1-97DB2F94C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90700"/>
            <a:ext cx="9620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10212B"/>
                </a:solidFill>
                <a:latin typeface="Arial"/>
                <a:ea typeface="Arial"/>
                <a:cs typeface="Arial"/>
              </a:rPr>
              <a:t>China Steel Strategy</a:t>
            </a:r>
          </a:p>
          <a:p xmlns:a="http://schemas.openxmlformats.org/drawingml/2006/main">
            <a:pPr algn="l">
              <a:defRPr sz="5400" b="1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10212B"/>
                </a:solidFill>
                <a:latin typeface="Arial"/>
                <a:ea typeface="Arial"/>
                <a:cs typeface="Arial"/>
              </a:rPr>
              <a:t>Analytics Portfolio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60D378-0566-42B6-8022-1CBA5376E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762500"/>
            <a:ext cx="723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Market monitor · cost bridge · 2025–2030 scenarios · competitor &amp; policy intelligence</a:t>
            </a:r>
          </a:p>
        </p:txBody>
      </p:sp>
    </p:spTree>
    <p:extLst>
      <p:ext uri="{BB962C8B-B14F-4D97-AF65-F5344CB8AC3E}">
        <p14:creationId xmlns:p14="http://schemas.microsoft.com/office/powerpoint/2010/main" val="4434757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13205B-E189-47C6-8BA8-98B302D8A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290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0212B"/>
                </a:solidFill>
                <a:latin typeface="Arial"/>
                <a:ea typeface="Arial"/>
                <a:cs typeface="Arial"/>
              </a:rPr>
              <a:t>The 60-second strategy read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CC6A9A-7763-4EE9-9D0C-E37C4787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1912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538944-B829-43BF-9351-741ACB578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0"/>
            <a:ext cx="25717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6"/>
          </a:solidFill>
          <a:ln xmlns:a="http://schemas.openxmlformats.org/drawingml/2006/main" w="9525">
            <a:solidFill>
              <a:srgbClr val="F1F5F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868BE8-9013-4BE9-B46B-5494A748F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104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07896-7FF6-4814-8A03-C605C6CF9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14650"/>
            <a:ext cx="2152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weekly observations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79D6CD-77B0-4D98-8C80-1175071D1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09750"/>
            <a:ext cx="25717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6"/>
          </a:solidFill>
          <a:ln xmlns:a="http://schemas.openxmlformats.org/drawingml/2006/main" w="9525">
            <a:solidFill>
              <a:srgbClr val="F1F5F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3A0784-860C-4784-97A1-BF3F8FD64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09550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D25BCB-70F9-416A-92E6-282FBE9EB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14650"/>
            <a:ext cx="2152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scenario-year outputs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9BE51D-16E1-4F68-B723-170A7D32D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5717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6"/>
          </a:solidFill>
          <a:ln xmlns:a="http://schemas.openxmlformats.org/drawingml/2006/main" w="9525">
            <a:solidFill>
              <a:srgbClr val="F1F5F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872CFB-4028-4601-AAC3-67640023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9550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B1F4AA-860B-4BF3-BCC8-904DF1EE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14650"/>
            <a:ext cx="2152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major China producers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396B36-132D-4BAF-A91C-EBC542E8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809750"/>
            <a:ext cx="25717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6"/>
          </a:solidFill>
          <a:ln xmlns:a="http://schemas.openxmlformats.org/drawingml/2006/main" w="9525">
            <a:solidFill>
              <a:srgbClr val="F1F5F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2C8D35-93C6-43E6-B06D-9A17E4087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09550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DD94DA-9E3E-4747-A3A5-873348A9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914650"/>
            <a:ext cx="2152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auditable model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FC84A0-2D3E-4075-92B0-9D99C984B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212B"/>
                </a:solidFill>
                <a:latin typeface="Arial"/>
                <a:ea typeface="Arial"/>
                <a:cs typeface="Arial"/>
              </a:rPr>
              <a:t>One data spine connects recurring updates to medium-term decisions: market → cost → margin → scenario → action.</a:t>
            </a:r>
          </a:p>
        </p:txBody>
      </p:sp>
    </p:spTree>
    <p:extLst>
      <p:ext uri="{BB962C8B-B14F-4D97-AF65-F5344CB8AC3E}">
        <p14:creationId xmlns:p14="http://schemas.microsoft.com/office/powerpoint/2010/main" val="8633235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C174AB-97D0-4A89-A9F4-CF97C2C89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290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0212B"/>
                </a:solidFill>
                <a:latin typeface="Arial"/>
                <a:ea typeface="Arial"/>
                <a:cs typeface="Arial"/>
              </a:rPr>
              <a:t>Latest modeled conditions show a positive but exposed margin buffer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CDE60B-D9F0-4342-A2C0-065FAA25D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9715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Synthetic weekly data; latest point in the generated series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A14CB8-D891-46F9-B59F-1A43E8B1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1912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3DAB20-7D0F-41D2-AE8D-613F0C835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0"/>
            <a:ext cx="25717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6"/>
          </a:solidFill>
          <a:ln xmlns:a="http://schemas.openxmlformats.org/drawingml/2006/main" w="9525">
            <a:solidFill>
              <a:srgbClr val="F1F5F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2D142A-C563-4956-A53E-2C9FBE3C5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$533/t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246496-4B6E-46F9-BE56-437BE62B5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14650"/>
            <a:ext cx="2152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HRC price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A70D20-1CD6-4B28-BAE7-9CB7EC05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09750"/>
            <a:ext cx="25717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6"/>
          </a:solidFill>
          <a:ln xmlns:a="http://schemas.openxmlformats.org/drawingml/2006/main" w="9525">
            <a:solidFill>
              <a:srgbClr val="F1F5F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2C2D08-B30F-4DD4-B501-676EE7F5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09550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$333/t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0830C7-57CF-4E04-A4A2-1CF0A644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14650"/>
            <a:ext cx="2152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blended cash cost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32FBD0-7028-49D5-976A-B86ABF160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5717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6"/>
          </a:solidFill>
          <a:ln xmlns:a="http://schemas.openxmlformats.org/drawingml/2006/main" w="9525">
            <a:solidFill>
              <a:srgbClr val="F1F5F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BEFBAF-61F1-4464-BD0B-BBC0738B3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9550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$166/t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217924-994C-44AC-86DB-FB8654149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14650"/>
            <a:ext cx="2152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HRC margin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BC97B2-7A9E-4EFD-A934-760284275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809750"/>
            <a:ext cx="25717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6"/>
          </a:solidFill>
          <a:ln xmlns:a="http://schemas.openxmlformats.org/drawingml/2006/main" w="9525">
            <a:solidFill>
              <a:srgbClr val="F1F5F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470A6F-73FD-48CE-A541-2B8E42518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09550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3.23 Mt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ECE96B-03C6-45D8-BB63-8232C4980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914650"/>
            <a:ext cx="2152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weekly exports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156B6C-5DE1-4E33-B128-41845F86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0"/>
            <a:ext cx="1028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12B"/>
                </a:solidFill>
                <a:latin typeface="Arial"/>
                <a:ea typeface="Arial"/>
                <a:cs typeface="Arial"/>
              </a:rPr>
              <a:t>Implication: raw-material volatility and product mix can move earnings faster than modest volume changes.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56F1EF-4B60-407E-8ABF-461CE6C99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91250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Source: deterministic synthetic model, seed 20260809</a:t>
            </a:r>
          </a:p>
        </p:txBody>
      </p:sp>
    </p:spTree>
    <p:extLst>
      <p:ext uri="{BB962C8B-B14F-4D97-AF65-F5344CB8AC3E}">
        <p14:creationId xmlns:p14="http://schemas.microsoft.com/office/powerpoint/2010/main" val="173631042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AAC547-6E54-4F11-B512-ABC7EDD0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290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0212B"/>
                </a:solidFill>
                <a:latin typeface="Arial"/>
                <a:ea typeface="Arial"/>
                <a:cs typeface="Arial"/>
              </a:rPr>
              <a:t>A recurring market update should connect price, inputs and margin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4BCAA6-68EF-4A27-866D-10C60F3C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1912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523875" y="1476375"/>
          <a:ext xmlns:a="http://schemas.openxmlformats.org/drawingml/2006/main" cx="7524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8728eec6e274ab3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3102B7-E8C2-469C-8726-C4A3C113B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62125"/>
            <a:ext cx="26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E9DB2D-41D4-4CF3-88D6-A92BB935D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62125"/>
            <a:ext cx="2838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Price alone is not the decision metric.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4043A7-3702-4D52-BC5D-2651CEDA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43175"/>
            <a:ext cx="26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7E7BD1-8AFB-4458-AE7E-EDDE31CE9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543175"/>
            <a:ext cx="2838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Use raw-material and cost bridges to explain spread movement.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53F761-4BE9-4392-87B0-8FD69A7F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324225"/>
            <a:ext cx="26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2DBA8A-BFD8-40F0-98E0-9059DFD4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324225"/>
            <a:ext cx="2838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Escalate unusual gaps after QC, not before.</a:t>
            </a:r>
          </a:p>
        </p:txBody>
      </p:sp>
    </p:spTree>
    <p:extLst>
      <p:ext uri="{BB962C8B-B14F-4D97-AF65-F5344CB8AC3E}">
        <p14:creationId xmlns:p14="http://schemas.microsoft.com/office/powerpoint/2010/main" val="109257808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D5C19C-0077-44C1-8A3A-E5EBB0E4E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290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0212B"/>
                </a:solidFill>
                <a:latin typeface="Arial"/>
                <a:ea typeface="Arial"/>
                <a:cs typeface="Arial"/>
              </a:rPr>
              <a:t>The cash-cost bridge makes route exposure explicit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69F461-482F-4C95-9901-FD938339B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9715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Illustrative USD/t; editable signed bridge bars, not proprietary think-cell objects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0C689F-D001-47EA-943E-E7A0656A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1912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66750" y="1524000"/>
          <a:ext xmlns:a="http://schemas.openxmlformats.org/drawingml/2006/main" cx="78105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1e8702c57284155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E61E90-4D7E-4667-80C4-3D2C7A678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6687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212B"/>
                </a:solidFill>
                <a:latin typeface="Arial"/>
                <a:ea typeface="Arial"/>
                <a:cs typeface="Arial"/>
              </a:rPr>
              <a:t>Model design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560ED8-828F-4B35-99A9-E3E8C064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190750"/>
            <a:ext cx="26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57D861-93EE-4B81-A670-D1A0A741C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190750"/>
            <a:ext cx="2362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BF-BOF: ore + coal + conversion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4CADD5-2273-4BCE-9206-A8583895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971800"/>
            <a:ext cx="26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C3B70E-31C5-4A63-B1DA-E8D9B4C81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971800"/>
            <a:ext cx="2362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EAF: scrap + electricity proxy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5EF705-5088-4D0A-8372-37AEE3825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52850"/>
            <a:ext cx="26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B13D83-DA4C-4692-953B-09B91ED5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3752850"/>
            <a:ext cx="2362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Blended route mix stays visible</a:t>
            </a:r>
          </a:p>
        </p:txBody>
      </p:sp>
    </p:spTree>
    <p:extLst>
      <p:ext uri="{BB962C8B-B14F-4D97-AF65-F5344CB8AC3E}">
        <p14:creationId xmlns:p14="http://schemas.microsoft.com/office/powerpoint/2010/main" val="441541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6D7ACA-EB80-4106-8A8E-AD8732D4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290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0212B"/>
                </a:solidFill>
                <a:latin typeface="Arial"/>
                <a:ea typeface="Arial"/>
                <a:cs typeface="Arial"/>
              </a:rPr>
              <a:t>Scenario logic separates assumptions from conclusions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3D8B67-D00C-440D-993D-F85CF46B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1912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66750" y="1571625"/>
          <a:ext xmlns:a="http://schemas.openxmlformats.org/drawingml/2006/main" cx="7810500" cy="3714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952625"/>
                <a:gridCol w="1952625"/>
                <a:gridCol w="1952625"/>
                <a:gridCol w="1952625"/>
              </a:tblGrid>
              <a:tr h="619125">
                <a:tc>
                  <a:txBody>
                    <a:bodyPr/>
                    <a:lstStyle/>
                    <a:p>
                      <a:r>
                        <a:t>Lever</a:t>
                      </a:r>
                    </a:p>
                  </a:txBody>
                  <a:tcPr marL="91440" marR="91440" marT="45720" marB="45720">
                    <a:solidFill>
                      <a:srgbClr val="102A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Downside</a:t>
                      </a:r>
                    </a:p>
                  </a:txBody>
                  <a:tcPr marL="91440" marR="91440" marT="45720" marB="45720">
                    <a:solidFill>
                      <a:srgbClr val="102A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Base</a:t>
                      </a:r>
                    </a:p>
                  </a:txBody>
                  <a:tcPr marL="91440" marR="91440" marT="45720" marB="45720">
                    <a:solidFill>
                      <a:srgbClr val="102A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Upside</a:t>
                      </a:r>
                    </a:p>
                  </a:txBody>
                  <a:tcPr marL="91440" marR="91440" marT="45720" marB="45720">
                    <a:solidFill>
                      <a:srgbClr val="102A36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t>Demand CAGR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-2.5%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-1.0%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+0.5%</a:t>
                      </a:r>
                    </a:p>
                  </a:txBody>
                  <a:tcPr marL="91440" marR="91440" marT="45720" marB="45720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t>Supply CAGR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-1.2%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-0.8%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-0.4%</a:t>
                      </a:r>
                    </a:p>
                  </a:txBody>
                  <a:tcPr marL="91440" marR="91440" marT="45720" marB="45720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t>Price elasticity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0.55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0.65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0.75</a:t>
                      </a:r>
                    </a:p>
                  </a:txBody>
                  <a:tcPr marL="91440" marR="91440" marT="45720" marB="45720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t>Cost inflation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1.0%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1.5%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2.0%</a:t>
                      </a:r>
                    </a:p>
                  </a:txBody>
                  <a:tcPr marL="91440" marR="91440" marT="45720" marB="45720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t>2030 EAF share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23%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26%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D1103E-8219-4152-B4EE-32E3E5DAF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71625"/>
            <a:ext cx="25717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6"/>
          </a:solidFill>
          <a:ln xmlns:a="http://schemas.openxmlformats.org/drawingml/2006/main" w="9525">
            <a:solidFill>
              <a:srgbClr val="F1F5F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E39753-DA3C-4E44-8DD7-8BA61A574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050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0212B"/>
                </a:solidFill>
                <a:latin typeface="Arial"/>
                <a:ea typeface="Arial"/>
                <a:cs typeface="Arial"/>
              </a:rPr>
              <a:t>Audit trail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C9F92A-1541-483C-BC2B-397F89F5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476500"/>
            <a:ext cx="2095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Inputs</a:t>
            </a:r>
          </a:p>
          <a:p xmlns:a="http://schemas.openxmlformats.org/drawingml/2006/main">
            <a:pPr algn="ctr">
              <a:defRPr sz="165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defRPr sz="165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Supply-demand balance</a:t>
            </a:r>
          </a:p>
          <a:p xmlns:a="http://schemas.openxmlformats.org/drawingml/2006/main">
            <a:pPr algn="ctr">
              <a:defRPr sz="165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defRPr sz="165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Price response</a:t>
            </a:r>
          </a:p>
          <a:p xmlns:a="http://schemas.openxmlformats.org/drawingml/2006/main">
            <a:pPr algn="ctr">
              <a:defRPr sz="165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defRPr sz="165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Cash cost</a:t>
            </a:r>
          </a:p>
          <a:p xmlns:a="http://schemas.openxmlformats.org/drawingml/2006/main">
            <a:pPr algn="ctr">
              <a:defRPr sz="165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defRPr sz="165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Margin</a:t>
            </a:r>
          </a:p>
        </p:txBody>
      </p:sp>
    </p:spTree>
    <p:extLst>
      <p:ext uri="{BB962C8B-B14F-4D97-AF65-F5344CB8AC3E}">
        <p14:creationId xmlns:p14="http://schemas.microsoft.com/office/powerpoint/2010/main" val="5218751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D9B709-A2F5-4791-9B94-838524D7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290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0212B"/>
                </a:solidFill>
                <a:latin typeface="Arial"/>
                <a:ea typeface="Arial"/>
                <a:cs typeface="Arial"/>
              </a:rPr>
              <a:t>Base case: capacity discipline partly offsets softer demand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E9087B-3468-4DAE-A1F9-6D9DF6475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1912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523875" y="1476375"/>
          <a:ext xmlns:a="http://schemas.openxmlformats.org/drawingml/2006/main" cx="72390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d8a33102ef7423a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60E7F0-69CE-4EFD-8944-0CA813E3A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295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212B"/>
                </a:solidFill>
                <a:latin typeface="Arial"/>
                <a:ea typeface="Arial"/>
                <a:cs typeface="Arial"/>
              </a:rPr>
              <a:t>2030 model output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A599EA-92CB-41FC-9E4F-9D38ADB2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095500"/>
            <a:ext cx="30003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6"/>
          </a:solidFill>
          <a:ln xmlns:a="http://schemas.openxmlformats.org/drawingml/2006/main" w="9525">
            <a:solidFill>
              <a:srgbClr val="F1F5F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B5C5FA-D7B2-41D7-8FAF-D2AA2C4DF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266950"/>
            <a:ext cx="1381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932 Mt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EF0D46-A842-4444-B95E-E254D861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324100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demand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697C1E-1DB2-4C1F-A6F8-210F731D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238500"/>
            <a:ext cx="30003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6"/>
          </a:solidFill>
          <a:ln xmlns:a="http://schemas.openxmlformats.org/drawingml/2006/main" w="9525">
            <a:solidFill>
              <a:srgbClr val="F1F5F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64E65B-76EF-448A-A690-B902144D2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409950"/>
            <a:ext cx="1381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956 Mt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E94F4B-B7AC-49A9-9610-25FC92BA1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67100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supply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717061-E005-4713-9677-3A862AD5A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381500"/>
            <a:ext cx="30003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6"/>
          </a:solidFill>
          <a:ln xmlns:a="http://schemas.openxmlformats.org/drawingml/2006/main" w="9525">
            <a:solidFill>
              <a:srgbClr val="F1F5F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3C49D6-494D-420B-9209-2881C5476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552950"/>
            <a:ext cx="1381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$66/t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4FBB16-4B8D-4EFD-9317-7B7FF2E7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610100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margin</a:t>
            </a:r>
          </a:p>
        </p:txBody>
      </p:sp>
    </p:spTree>
    <p:extLst>
      <p:ext uri="{BB962C8B-B14F-4D97-AF65-F5344CB8AC3E}">
        <p14:creationId xmlns:p14="http://schemas.microsoft.com/office/powerpoint/2010/main" val="117594949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6BE4B5-9454-4436-9E5A-69FDE5EB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290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0212B"/>
                </a:solidFill>
                <a:latin typeface="Arial"/>
                <a:ea typeface="Arial"/>
                <a:cs typeface="Arial"/>
              </a:rPr>
              <a:t>Margin outcomes are more sensitive than volume headlines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14249F-F288-4474-B04D-BAD987DF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1912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666750" y="1571625"/>
          <a:ext xmlns:a="http://schemas.openxmlformats.org/drawingml/2006/main" cx="723900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62f6b5703b24355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7C8730-A251-459C-9748-944BB0BC0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714500"/>
            <a:ext cx="26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00BE51-6C01-41CF-ADCE-723BF060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1714500"/>
            <a:ext cx="26955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Use scenarios to expose the decision range—not claim a forecast.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289048-FFD3-42D1-BF88-734F3F39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495550"/>
            <a:ext cx="26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43A9C0-0284-4AE6-8A8F-4F96A8807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495550"/>
            <a:ext cx="26955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Watch cost inflation, elasticity and EAF pathway alongside demand.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A66789-9B71-4868-AF6C-DBEA30FD9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276600"/>
            <a:ext cx="26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CD23B2-E3F7-40EE-8D9D-810FBF8B8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276600"/>
            <a:ext cx="26955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Refresh assumptions when policy or raw-material regimes change.</a:t>
            </a:r>
          </a:p>
        </p:txBody>
      </p:sp>
    </p:spTree>
    <p:extLst>
      <p:ext uri="{BB962C8B-B14F-4D97-AF65-F5344CB8AC3E}">
        <p14:creationId xmlns:p14="http://schemas.microsoft.com/office/powerpoint/2010/main" val="17637423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A1C9B9-C5C8-47A1-9E9A-90435CF9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290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0212B"/>
                </a:solidFill>
                <a:latin typeface="Arial"/>
                <a:ea typeface="Arial"/>
                <a:cs typeface="Arial"/>
              </a:rPr>
              <a:t>China’s producer landscape is concentrated at the top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D61256-4734-45C5-A9E5-CD3BC2932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9715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Public 2024 crude steel production; group scope affects comparability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764719-888D-4CA2-AA12-58DCF809D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1912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523875" y="1428750"/>
          <a:ext xmlns:a="http://schemas.openxmlformats.org/drawingml/2006/main" cx="7620000" cy="4286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0d6c4665e554d66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D9BDC4-6D7E-4257-BE06-91A57448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66687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212B"/>
                </a:solidFill>
                <a:latin typeface="Arial"/>
                <a:ea typeface="Arial"/>
                <a:cs typeface="Arial"/>
              </a:rPr>
              <a:t>Screen beyond scale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222E94-0F17-4820-A2FF-97AB89A13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238375"/>
            <a:ext cx="26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899544-EE7C-4712-A9E8-8081E55CD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238375"/>
            <a:ext cx="2552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Product mix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43F377-D443-4E5F-8B1A-97C0EC4C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19425"/>
            <a:ext cx="26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4061E7-A043-4A93-85D3-0EDCC30B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019425"/>
            <a:ext cx="2552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Regional footprint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CF698B-2354-43C6-A44D-A1CBFF66C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00475"/>
            <a:ext cx="26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2238D7-D099-41C3-8157-39740FF01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800475"/>
            <a:ext cx="2552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Cost-curve position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61F530-E650-425B-A90C-6D6A01879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81525"/>
            <a:ext cx="26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B08209-13FD-44D6-A52E-20FDE597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581525"/>
            <a:ext cx="2552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Decarbonization pathway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7AB77D-B77C-4E37-B205-37B6091BB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91250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Source: worldsteel, World Steel in Figures 2025</a:t>
            </a:r>
          </a:p>
        </p:txBody>
      </p:sp>
    </p:spTree>
    <p:extLst>
      <p:ext uri="{BB962C8B-B14F-4D97-AF65-F5344CB8AC3E}">
        <p14:creationId xmlns:p14="http://schemas.microsoft.com/office/powerpoint/2010/main" val="12088278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BB33B2-61F8-4572-9916-EA380F5F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290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0212B"/>
                </a:solidFill>
                <a:latin typeface="Arial"/>
                <a:ea typeface="Arial"/>
                <a:cs typeface="Arial"/>
              </a:rPr>
              <a:t>Policy belongs inside the model, not in an appendix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6E2754-D0F7-426D-BDA7-F03D47A2C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1912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B1E0B0-9384-4A5D-9C60-1E535B39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71625"/>
            <a:ext cx="51435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6"/>
          </a:solidFill>
          <a:ln xmlns:a="http://schemas.openxmlformats.org/drawingml/2006/main" w="9525">
            <a:solidFill>
              <a:srgbClr val="F1F5F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8E6BEA-6CEC-43E7-B871-354C03621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811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Capacity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1659D3-00D7-4C76-AD0F-9D0422CBD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38375"/>
            <a:ext cx="461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Replacement and compliance can slow effective supply growth.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9B3EF9-9367-4065-9949-35E768149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71625"/>
            <a:ext cx="51435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6"/>
          </a:solidFill>
          <a:ln xmlns:a="http://schemas.openxmlformats.org/drawingml/2006/main" w="9525">
            <a:solidFill>
              <a:srgbClr val="F1F5F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393099-9E95-468D-A3E7-CD7959C6A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811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Process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5E6521-C4DA-4761-9E80-8E02DCEA6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38375"/>
            <a:ext cx="461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EAF and low-carbon routes change input exposure and capex.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572A8F-D5CC-4D57-8D35-2634CAC5B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524250"/>
            <a:ext cx="51435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6"/>
          </a:solidFill>
          <a:ln xmlns:a="http://schemas.openxmlformats.org/drawingml/2006/main" w="9525">
            <a:solidFill>
              <a:srgbClr val="F1F5F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54C505-154B-405A-9596-493707F2C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338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Mix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5BAAE0-9A6E-48E1-8FFC-061B05F81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91000"/>
            <a:ext cx="461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Product upgrading can support value even if tonnes soften.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A25FE7-3A82-4F18-9109-EDA50956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524250"/>
            <a:ext cx="51435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6"/>
          </a:solidFill>
          <a:ln xmlns:a="http://schemas.openxmlformats.org/drawingml/2006/main" w="9525">
            <a:solidFill>
              <a:srgbClr val="F1F5F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561BAB-DA98-4AD4-A3FF-9FA048BD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338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0AE1E9-0005-428F-8291-66B54DD3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91000"/>
            <a:ext cx="461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Digital monitoring improves policy and operating visibility.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653D1E-547E-499A-8DE9-1D15DCD76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91250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Sources: MIIT 2025–2026 stable-growth plan; MIIT/NDRC/MEE industrial carbon-peaking plan</a:t>
            </a:r>
          </a:p>
        </p:txBody>
      </p:sp>
    </p:spTree>
    <p:extLst>
      <p:ext uri="{BB962C8B-B14F-4D97-AF65-F5344CB8AC3E}">
        <p14:creationId xmlns:p14="http://schemas.microsoft.com/office/powerpoint/2010/main" val="63931035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4571E5-E071-4769-9C05-5FE62431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290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0212B"/>
                </a:solidFill>
                <a:latin typeface="Arial"/>
                <a:ea typeface="Arial"/>
                <a:cs typeface="Arial"/>
              </a:rPr>
              <a:t>A practical operating cadence turns analysis into action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B7989C-2C9B-4E34-8E2A-97F1A7D2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1912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762000" y="1619250"/>
          <a:ext xmlns:a="http://schemas.openxmlformats.org/drawingml/2006/main" cx="10668000" cy="3524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556000"/>
                <a:gridCol w="3556000"/>
                <a:gridCol w="3556000"/>
              </a:tblGrid>
              <a:tr h="704850">
                <a:tc>
                  <a:txBody>
                    <a:bodyPr/>
                    <a:lstStyle/>
                    <a:p>
                      <a:r>
                        <a:t>Cadence</a:t>
                      </a:r>
                    </a:p>
                  </a:txBody>
                  <a:tcPr marL="91440" marR="91440" marT="45720" marB="45720">
                    <a:solidFill>
                      <a:srgbClr val="102A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Core output</a:t>
                      </a:r>
                    </a:p>
                  </a:txBody>
                  <a:tcPr marL="91440" marR="91440" marT="45720" marB="45720">
                    <a:solidFill>
                      <a:srgbClr val="102A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102A36"/>
                    </a:solidFill>
                  </a:tcPr>
                </a:tc>
              </a:tr>
              <a:tr h="704850">
                <a:tc>
                  <a:txBody>
                    <a:bodyPr/>
                    <a:lstStyle/>
                    <a:p>
                      <a:r>
                        <a:t>Weekly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Price, inputs, output, demand, spread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Investigate exceptions</a:t>
                      </a:r>
                    </a:p>
                  </a:txBody>
                  <a:tcPr marL="91440" marR="91440" marT="45720" marB="45720"/>
                </a:tc>
              </a:tr>
              <a:tr h="704850">
                <a:tc>
                  <a:txBody>
                    <a:bodyPr/>
                    <a:lstStyle/>
                    <a:p>
                      <a:r>
                        <a:t>Monthly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Trend, variance, competitor/policy updates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Refresh view and priorities</a:t>
                      </a:r>
                    </a:p>
                  </a:txBody>
                  <a:tcPr marL="91440" marR="91440" marT="45720" marB="45720"/>
                </a:tc>
              </a:tr>
              <a:tr h="704850">
                <a:tc>
                  <a:txBody>
                    <a:bodyPr/>
                    <a:lstStyle/>
                    <a:p>
                      <a:r>
                        <a:t>Quarterly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Scenario and sensitivity refresh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Reallocate research effort</a:t>
                      </a:r>
                    </a:p>
                  </a:txBody>
                  <a:tcPr marL="91440" marR="91440" marT="45720" marB="45720"/>
                </a:tc>
              </a:tr>
              <a:tr h="704850">
                <a:tc>
                  <a:txBody>
                    <a:bodyPr/>
                    <a:lstStyle/>
                    <a:p>
                      <a:r>
                        <a:t>Event-driven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Policy or commodity shock note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Rebase assumptions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50701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25216B-4377-4066-BB6E-E839E46C1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290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0212B"/>
                </a:solidFill>
                <a:latin typeface="Arial"/>
                <a:ea typeface="Arial"/>
                <a:cs typeface="Arial"/>
              </a:rPr>
              <a:t>Recommendation: monitor the spread drivers, then update the scenario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5EEFC0-5AB4-48BE-8461-DEE885BA5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1912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EA591A-A2DF-426B-BF31-8B431F60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26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2F9FD9-33DA-4A82-87CC-5C4312552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71625"/>
            <a:ext cx="9982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Lead recurring updates with margin and supply-demand balance, not price alone.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73C6E2-6E26-4B96-8C94-EE9F87589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52675"/>
            <a:ext cx="26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4347A1-29E3-4EA2-8E7A-9199BB340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52675"/>
            <a:ext cx="9982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Treat capacity discipline and decarbonization as model inputs with explicit assumption owners.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10D28E-AEB9-41BE-83A6-B65D84E2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33725"/>
            <a:ext cx="26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332F12-6B9E-49D0-93B7-F335DFA20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33725"/>
            <a:ext cx="9982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Use competitor output as a scale screen; layer mix, geography and cost position before concluding.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AB5341-4023-4C1E-BFB4-54B1373F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14775"/>
            <a:ext cx="266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7B75D4-5E21-4EB8-B103-5D851DF9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14775"/>
            <a:ext cx="9982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212B"/>
                </a:solidFill>
                <a:latin typeface="Arial"/>
                <a:ea typeface="Arial"/>
                <a:cs typeface="Arial"/>
              </a:rPr>
              <a:t>Maintain an evidence log that separates public facts from synthetic portfolio outputs.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2A78BD-FFCD-43F8-BB63-A36A529D9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91125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This deck contains editable native charts and tables. It does not contain proprietary think-cell objects.</a:t>
            </a:r>
          </a:p>
        </p:txBody>
      </p:sp>
    </p:spTree>
    <p:extLst>
      <p:ext uri="{BB962C8B-B14F-4D97-AF65-F5344CB8AC3E}">
        <p14:creationId xmlns:p14="http://schemas.microsoft.com/office/powerpoint/2010/main" val="149288748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17E14B-F225-44F1-9DA3-51E60678B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290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0212B"/>
                </a:solidFill>
                <a:latin typeface="Arial"/>
                <a:ea typeface="Arial"/>
                <a:cs typeface="Arial"/>
              </a:rPr>
              <a:t>The portfolio is ready to reproduce and discuss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6EAF5D-C4F1-4A19-A2FC-DAE20C2F1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1912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09B93E-DD0A-4641-BA83-6E268EB8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0"/>
            <a:ext cx="25717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6"/>
          </a:solidFill>
          <a:ln xmlns:a="http://schemas.openxmlformats.org/drawingml/2006/main" w="9525">
            <a:solidFill>
              <a:srgbClr val="F1F5F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4303F8-F9A8-49D4-BBD6-617D9BC84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SQL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D9440A-66C7-4026-8D6E-02C364B9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14650"/>
            <a:ext cx="2152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updates + scenarios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80E6FF-5A0E-4BFB-A1B6-5FE67CA29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09750"/>
            <a:ext cx="25717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6"/>
          </a:solidFill>
          <a:ln xmlns:a="http://schemas.openxmlformats.org/drawingml/2006/main" w="9525">
            <a:solidFill>
              <a:srgbClr val="F1F5F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854BB4-68A8-4FD3-99FD-81193A69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09550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Excel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6E28D9-6E1D-41AB-BF52-63A8B812F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14650"/>
            <a:ext cx="2152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formulas + QC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976CF6-5EDE-47C9-B402-4B0FC8C7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5717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6"/>
          </a:solidFill>
          <a:ln xmlns:a="http://schemas.openxmlformats.org/drawingml/2006/main" w="9525">
            <a:solidFill>
              <a:srgbClr val="F1F5F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495151-C182-485C-A2F5-4601D9A6D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9550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HTML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B025B4-CDF2-4008-8FF6-32A28D6A1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14650"/>
            <a:ext cx="2152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interactive dashboard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524479-2D7E-4C5F-963B-1FD5C4CB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809750"/>
            <a:ext cx="25717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6"/>
          </a:solidFill>
          <a:ln xmlns:a="http://schemas.openxmlformats.org/drawingml/2006/main" w="9525">
            <a:solidFill>
              <a:srgbClr val="F1F5F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6FD701-37C8-4855-ADA9-219E97D4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09550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CSV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EFA7EB-8E38-446A-BBB9-33E516C6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914650"/>
            <a:ext cx="2152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71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2717B"/>
                </a:solidFill>
                <a:latin typeface="Arial"/>
                <a:ea typeface="Arial"/>
                <a:cs typeface="Arial"/>
              </a:rPr>
              <a:t>BI handoff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C4E60B-4E33-4876-905F-93DF8A949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81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0212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212B"/>
                </a:solidFill>
                <a:latin typeface="Arial"/>
                <a:ea typeface="Arial"/>
                <a:cs typeface="Arial"/>
              </a:rPr>
              <a:t>Next conversation: assumptions → result → caveat → decision.</a:t>
            </a:r>
          </a:p>
        </p:txBody>
      </p:sp>
    </p:spTree>
    <p:extLst>
      <p:ext uri="{BB962C8B-B14F-4D97-AF65-F5344CB8AC3E}">
        <p14:creationId xmlns:p14="http://schemas.microsoft.com/office/powerpoint/2010/main" val="16008197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2026-08-08T18:36:47.4020000Z</dcterms:created>
  <dcterms:modified xsi:type="dcterms:W3CDTF">2026-08-08T18:36:47.4020000Z</dcterms:modified>
</coreProperties>
</file>